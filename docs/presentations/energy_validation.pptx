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Energy Model Validation: Checking Our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4D8"/>
                </a:solidFill>
                <a:latin typeface="Calibri"/>
              </a:defRPr>
            </a:pPr>
            <a:r>
              <a:t>Every parameter, every equation, every assumption -- spelled out for verification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828800" y="1737360"/>
            <a:ext cx="8229600" cy="0"/>
          </a:xfrm>
          <a:prstGeom prst="line">
            <a:avLst/>
          </a:prstGeom>
          <a:ln w="2540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1200" b="0">
                <a:solidFill>
                  <a:srgbClr val="E8E8E8"/>
                </a:solidFill>
                <a:latin typeface="Calibri"/>
              </a:defRPr>
            </a:pPr>
            <a:r>
              <a:t>1. Base ALU Energy: Horowitz ISSCC 2014, scaled by process node capacitance (C*V^2)</a:t>
            </a:r>
          </a:p>
          <a:p>
            <a:pPr algn="l">
              <a:spcAft>
                <a:spcPts val="479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 E_base(node) = {3nm: 1.20, 4nm: 1.30, 5nm: 1.50, 7nm: 1.80, 16nm: 2.70} pJ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79"/>
              </a:spcAft>
              <a:defRPr sz="1200" b="0">
                <a:solidFill>
                  <a:srgbClr val="E8E8E8"/>
                </a:solidFill>
                <a:latin typeface="Calibri"/>
              </a:defRPr>
            </a:pPr>
            <a:r>
              <a:t>2. Circuit Type Multiplier: Accounts for design complexity vs efficiency trade-off</a:t>
            </a:r>
          </a:p>
          <a:p>
            <a:pPr algn="l">
              <a:spcAft>
                <a:spcPts val="479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 E_alu = E_base * multiplier   (x86: 2.50x, cuda: 0.95x, tensor: 0.85x, systolic: 0.80x, domain: 0.75x)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79"/>
              </a:spcAft>
              <a:defRPr sz="1200" b="0">
                <a:solidFill>
                  <a:srgbClr val="E8E8E8"/>
                </a:solidFill>
                <a:latin typeface="Calibri"/>
              </a:defRPr>
            </a:pPr>
            <a:r>
              <a:t>3. Architecture-Specific Overhead: Per-cycle infrastructure energy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999999"/>
                </a:solidFill>
                <a:latin typeface="Calibri"/>
              </a:defRPr>
            </a:pPr>
            <a:r>
              <a:t>   CPU: instruction pipeline + register file (per instruction, amortized over SIMD width)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999999"/>
                </a:solidFill>
                <a:latin typeface="Calibri"/>
              </a:defRPr>
            </a:pPr>
            <a:r>
              <a:t>   GPU: warp scheduler + scoreboard + operand collector + crossbar (per warp, amortized over 32/64 MACs)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999999"/>
                </a:solidFill>
                <a:latin typeface="Calibri"/>
              </a:defRPr>
            </a:pPr>
            <a:r>
              <a:t>   TPU: weight loading + input feeding + output draining (per tile, amortized over MxM MACs)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999999"/>
                </a:solidFill>
                <a:latin typeface="Calibri"/>
              </a:defRPr>
            </a:pPr>
            <a:r>
              <a:t>   KPU: PE-to-PE wire + local register write + EDDO memory (per op, near-zero overhead)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79"/>
              </a:spcAft>
              <a:defRPr sz="1200" b="0">
                <a:solidFill>
                  <a:srgbClr val="E8E8E8"/>
                </a:solidFill>
                <a:latin typeface="Calibri"/>
              </a:defRPr>
            </a:pPr>
            <a:r>
              <a:t>4. Memory Hierarchy: Cache/scratchpad + off-chip access, workload-dependent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Reference Workload for All Evaluations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Operations: 1,000,000 MACs  |  Data transferred: 1,048,576 bytes (1 MB)  |  Operating mode: DRAM-resident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999999"/>
                </a:solidFill>
                <a:latin typeface="Calibri"/>
              </a:defRPr>
            </a:pPr>
            <a:r>
              <a:t>  This workload is large enough to amortize fixed overheads (kernel launch, domain program load)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999999"/>
                </a:solidFill>
                <a:latin typeface="Calibri"/>
              </a:defRPr>
            </a:pPr>
            <a:r>
              <a:t>  KPU precision mix: 70% INT8, 20% BF16, 10% FP32 (as configured in kpu.py)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Source: graphs/hardware/technology_profile.py, graphs/hardware/cycle_energy/{cpu,gpu,tpu,kpu}.py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Parameter Sources: Process, Circuit, and Memory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Architecture Configuration (from technology_profile.py)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868680"/>
          <a:ext cx="11521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  <a:gridCol w="1920240"/>
              </a:tblGrid>
              <a:tr h="290945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CPU (7nm)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GPU (4nm)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TPU (7nm)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KPU (7nm)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Process Node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7nm (TSMC N7)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4nm (TSMC N4P)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7nm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7nm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E_base (FP32 ALU)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1.80 pJ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1.30 pJ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1.80 pJ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1.80 pJ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PROCESS_NODE_BASE_ENERGY_PJ[nm]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Circuit Multiplier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x86_perf: 2.50x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tensor_core: 0.85x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systolic: 0.80x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domain_flow: 0.75x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CIRCUIT_TYPE_MULTIPLIER[type]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E_mac (effective)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1.80 pJ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1.105 pJ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1.440 pJ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1.350 pJ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E_base * multiplier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Memory Technology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DDR5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HBM3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HBM2e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LPDDR5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Off-chip (pJ/byte)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20.0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5.5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6.5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8.0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MemoryType spec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SRAM/L1 (pJ/byte)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0.400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0.2514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0.400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0.400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get_sram_energy_per_byte_pj()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I-fetch (pJ)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0.540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0.488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0.180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0.090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E_base * pipeline_factor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RF read (pJ)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1.012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0.812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0.900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0.720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E_base * rf_factor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29095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RF write (pJ)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1.215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0.975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0.900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0.720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E_base * rf_factor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3931920"/>
            <a:ext cx="10972800" cy="0"/>
          </a:xfrm>
          <a:prstGeom prst="line">
            <a:avLst/>
          </a:prstGeom>
          <a:ln w="19050">
            <a:solidFill>
              <a:srgbClr val="FF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402335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Critical Observations About Parameter Consistency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4340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100" b="1">
                <a:solidFill>
                  <a:srgbClr val="F3C623"/>
                </a:solidFill>
                <a:latin typeface="Calibri"/>
              </a:defRPr>
            </a:pPr>
            <a:r>
              <a:t>1. Process Node Asymmetry: GPU at 4nm (E_base=1.30) vs TPU/KPU at 7nm (E_base=1.80)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 The 4nm GPU has a 28% base energy advantage before any circuit multiplier is applied.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999999"/>
                </a:solidFill>
                <a:latin typeface="Calibri"/>
              </a:defRPr>
            </a:pPr>
            <a:r>
              <a:t>   For fair comparison, all architectures should be evaluated at the same process node.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39"/>
              </a:spcAft>
              <a:defRPr sz="1100" b="1">
                <a:solidFill>
                  <a:srgbClr val="F3C623"/>
                </a:solidFill>
                <a:latin typeface="Calibri"/>
              </a:defRPr>
            </a:pPr>
            <a:r>
              <a:t>2. Memory Technology Asymmetry: GPU uses HBM3 (5.5 pJ/byte) vs KPU uses LPDDR5 (8.0 pJ/byte)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 The GPU has a 31% memory energy advantage per byte. KPU compensates via EDDO (no tag lookup),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999999"/>
                </a:solidFill>
                <a:latin typeface="Calibri"/>
              </a:defRPr>
            </a:pPr>
            <a:r>
              <a:t>   but the raw off-chip cost is higher. HBM variant of KPU would close this gap.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39"/>
              </a:spcAft>
              <a:defRPr sz="1100" b="1">
                <a:solidFill>
                  <a:srgbClr val="F3C623"/>
                </a:solidFill>
                <a:latin typeface="Calibri"/>
              </a:defRPr>
            </a:pPr>
            <a:r>
              <a:t>3. MAC Energy: TPU systolic = 1.440 pJ, KPU domain_flow = 1.350 pJ (both at 7nm)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 These ARE comparable, as expected. The 0.75x vs 0.80x multiplier reflects domain flow's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999999"/>
                </a:solidFill>
                <a:latin typeface="Calibri"/>
              </a:defRPr>
            </a:pPr>
            <a:r>
              <a:t>   slightly simpler PE design (no weight-stationary control logic).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39"/>
              </a:spcAft>
              <a:defRPr sz="1100" b="1">
                <a:solidFill>
                  <a:srgbClr val="F3C623"/>
                </a:solidFill>
                <a:latin typeface="Calibri"/>
              </a:defRPr>
            </a:pPr>
            <a:r>
              <a:t>4. GPU tensor_core_mac = 1.105 pJ. This is E_base(4nm)*0.85 = 1.30*0.85.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 The Horowitz-derived switching energy for FP16 mult + FP32 add is 0.34 pJ.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999999"/>
                </a:solidFill>
                <a:latin typeface="Calibri"/>
              </a:defRPr>
            </a:pPr>
            <a:r>
              <a:t>   The model uses the circuit-multiplier method, not Horowitz component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Energy Equations: Every Term Spelled 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502920"/>
            <a:ext cx="1463040" cy="274320"/>
          </a:xfrm>
          <a:prstGeom prst="round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CPU (7nm scalar)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E_cpu = 2*(E_ifetch + E_idecode) + 2*E_rf_read + E_alu + E_rf_write + E_memory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8E8"/>
                </a:solidFill>
                <a:latin typeface="Consolas"/>
              </a:defRPr>
            </a:pPr>
            <a:r>
              <a:t>     = 2*(0.540 + 0.288) + 2*1.012 + 1.800 + 1.215 + E_mem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5272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71"/>
                </a:solidFill>
                <a:latin typeface="Consolas"/>
              </a:defRPr>
            </a:pPr>
            <a:r>
              <a:t>     = 1.656 (frontend) + 3.240 (RF) + 1.800 (ALU) + 1.280 (mem) = 11.22 pJ/op  |  Compute eff: 16.0%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600200"/>
            <a:ext cx="1828800" cy="27432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GPU TensorCore (4nm)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2024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onsolas"/>
              </a:defRPr>
            </a:pPr>
            <a:r>
              <a:t>E_gpu_tc = (E_ifetch + E_idecode + E_sched + E_scoreboard + E_addrgen + E_collector + E_arb + E_route)/64 + E_mac + (E_result_route + E_rf_write)/64 + E_simt + E_memory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14884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8E8"/>
                </a:solidFill>
                <a:latin typeface="Consolas"/>
              </a:defRPr>
            </a:pPr>
            <a:r>
              <a:t>     = 0.0117 (front) + 0.0328 (fetch) + 1.1050 (ALU) + 0.0100 (WB) + 0.1135 (SIMT) + 0.4564 (mem)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5000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71"/>
                </a:solidFill>
                <a:latin typeface="Consolas"/>
              </a:defRPr>
            </a:pPr>
            <a:r>
              <a:t>     = 1.7294 pJ/op  |  ALU = 1.105 pJ = 1.30 * 0.85  |  Compute eff: 63.9%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697480"/>
            <a:ext cx="1828800" cy="27432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GPU CUDA Core (4nm)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1752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onsolas"/>
              </a:defRPr>
            </a:pPr>
            <a:r>
              <a:t>E_gpu_cuda = (E_ifetch + E_idecode + E_sched + E_scoreboard + E_addrgen + E_collector + E_arb + E_route)/32 + E_mac + (E_result_route + E_rf_write)/32 + E_simt + E_memory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24612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71"/>
                </a:solidFill>
                <a:latin typeface="Consolas"/>
              </a:defRPr>
            </a:pPr>
            <a:r>
              <a:t>     = 0.0234 (front) + 0.0783 (fetch) + 1.1050 (ALU) + 0.0170 (WB) + 0.1293 (SIMT) + 0.4564 (mem) = 1.8094 pJ/op  |  Compute eff: 61.1%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593592"/>
            <a:ext cx="1645920" cy="274320"/>
          </a:xfrm>
          <a:prstGeom prst="roundRect">
            <a:avLst/>
          </a:prstGeom>
          <a:solidFill>
            <a:srgbClr val="DD8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TPU Systolic (7nm)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913632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E_tpu = E_config/N_ops + E_weight_load/reuse + E_input_feed + E_systolic_mac + E_output_drain + E_memory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142232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8E8"/>
                </a:solidFill>
                <a:latin typeface="Consolas"/>
              </a:defRPr>
            </a:pPr>
            <a:r>
              <a:t>     = 0.6390 (ctrl+data_move) + 1.4458 (ALU) + 0.7392 (mem)  |  MAC = 1.440 pJ = 1.80 * 0.80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34340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71"/>
                </a:solidFill>
                <a:latin typeface="Consolas"/>
              </a:defRPr>
            </a:pPr>
            <a:r>
              <a:t>     = 2.8240 pJ/op  |  Compute eff: 51.2%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690872"/>
            <a:ext cx="1828800" cy="2743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KPU Domain Flow (7nm)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010912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E_kpu = E_config/N_ops + 2*E_pe_transfer + E_domain_mac + E_local_write + E_eddo_memory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239512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8E8"/>
                </a:solidFill>
                <a:latin typeface="Consolas"/>
              </a:defRPr>
            </a:pPr>
            <a:r>
              <a:t>     = 0.0533 (spatial+config) + 0.9045 (ALU) + 1.2583 (mem)  |  MAC(BF16) = 1.350*0.8 = 1.080 pJ = 1.80 * 0.75 * 0.8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440679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71"/>
                </a:solidFill>
                <a:latin typeface="Consolas"/>
              </a:defRPr>
            </a:pPr>
            <a:r>
              <a:t>     = 2.2161 pJ/op  (mixed: 70% INT8 + 20% BF16 + 10% FP32)  |  Compute eff: 40.8%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Numerical Evaluation: 1,000,000 ops, 1,048,576 bytes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502920"/>
          <a:ext cx="115214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Category (pJ/op)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CPU scalar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(7nm)</a:t>
                      </a:r>
                    </a:p>
                  </a:txBody>
                  <a:tcPr>
                    <a:solidFill>
                      <a:srgbClr val="3A8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CPU AVX-512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(7nm)</a:t>
                      </a:r>
                    </a:p>
                  </a:txBody>
                  <a:tcPr>
                    <a:solidFill>
                      <a:srgbClr val="3A8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GPU CUDA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(4nm)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GPU TC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(4nm)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TPU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(7nm)</a:t>
                      </a:r>
                    </a:p>
                  </a:txBody>
                  <a:tcPr>
                    <a:solidFill>
                      <a:srgbClr val="DD88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KPU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(7nm)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1.6560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0.1035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0.0234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0.0117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Operand Fetch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4.0500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0.2531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0.0783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0.0328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Compute (ALU)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1.8000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1.8000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1.1050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1.1050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1.4458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0.9045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Writeback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2.4300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0.1519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0.0170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0.0100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SIMT Overhead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0.1293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0.1135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Systolic Ctrl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0.6390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Spatial/Config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0.0533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Memory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1.2799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1.2799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0.4564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0.4564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0.7392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1.2583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11.2159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3.5884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1.8094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1.7294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2.8240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2.2161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Compute Efficiency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16.0%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50.2%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61.1%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63.9%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51.2%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40.8%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B4D8"/>
                          </a:solidFill>
                        </a:defRPr>
                      </a:pPr>
                      <a:r>
                        <a:t>Energy ratio vs GPU TC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B4D8"/>
                          </a:solidFill>
                        </a:defRPr>
                      </a:pPr>
                      <a:r>
                        <a:t>6.49x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B4D8"/>
                          </a:solidFill>
                        </a:defRPr>
                      </a:pPr>
                      <a:r>
                        <a:t>2.07x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B4D8"/>
                          </a:solidFill>
                        </a:defRPr>
                      </a:pPr>
                      <a:r>
                        <a:t>1.05x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B4D8"/>
                          </a:solidFill>
                        </a:defRPr>
                      </a:pPr>
                      <a:r>
                        <a:t>1.00x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B4D8"/>
                          </a:solidFill>
                        </a:defRPr>
                      </a:pPr>
                      <a:r>
                        <a:t>1.63x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B4D8"/>
                          </a:solidFill>
                        </a:defRPr>
                      </a:pPr>
                      <a:r>
                        <a:t>1.28x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</a:tbl>
          </a:graphicData>
        </a:graphic>
      </p:graphicFrame>
      <p:cxnSp>
        <p:nvCxnSpPr>
          <p:cNvPr id="4" name="Connector 3"/>
          <p:cNvCxnSpPr/>
          <p:nvPr/>
        </p:nvCxnSpPr>
        <p:spPr>
          <a:xfrm>
            <a:off x="457200" y="4572000"/>
            <a:ext cx="10972800" cy="0"/>
          </a:xfrm>
          <a:prstGeom prst="line">
            <a:avLst/>
          </a:prstGeom>
          <a:ln w="19050">
            <a:solidFill>
              <a:srgbClr val="FF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4663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Analysis: What Drives Each Architecture's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834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Dominant energy category per architecture: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CPU scalar: Operand Fetch = 36%  |  CPU AVX-512: Compute (ALU) = 50%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GPU CUDA: Compute (ALU) = 61%  |  GPU TC: Compute (ALU) = 64%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TPU: Compute (ALU) = 51%  |  KPU: Memory = 57%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39"/>
              </a:spcAft>
              <a:defRPr sz="1100" b="0">
                <a:solidFill>
                  <a:srgbClr val="999999"/>
                </a:solidFill>
                <a:latin typeface="Calibri"/>
              </a:defRPr>
            </a:pPr>
            <a:r>
              <a:t>Key: GPU SIMT overhead includes kernel launch (100K pJ, amortized over 1M ops = 0.10 pJ/op).</a:t>
            </a:r>
          </a:p>
          <a:p>
            <a:pPr algn="l">
              <a:spcAft>
                <a:spcPts val="439"/>
              </a:spcAft>
              <a:defRPr sz="1100" b="1">
                <a:solidFill>
                  <a:srgbClr val="F3C623"/>
                </a:solidFill>
                <a:latin typeface="Calibri"/>
              </a:defRPr>
            </a:pPr>
            <a:r>
              <a:t>KPU memory is 57% of total because LPDDR5 costs 8.0 pJ/byte vs GPU's HBM3 at 5.5 pJ/byte.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999999"/>
                </a:solidFill>
                <a:latin typeface="Calibri"/>
              </a:defRPr>
            </a:pPr>
            <a:r>
              <a:t>The KPU's 70% INT8 mix lowers its average MAC to 0.90 pJ vs TPU's pure 1.44 pJ systolic MAC.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Compute Efficiency and Known Model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Compute Efficiency = ALU Energy / Total Energy  (what fraction is useful work)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869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3A86C8"/>
                </a:solidFill>
                <a:latin typeface="Calibri"/>
              </a:defRPr>
            </a:pPr>
            <a:r>
              <a:t>CPU scalar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868680"/>
            <a:ext cx="1467485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16.0%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7805" y="868680"/>
            <a:ext cx="7676514" cy="36576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999999"/>
                </a:solidFill>
              </a:defRPr>
            </a:pPr>
            <a:r>
              <a:t>overhead: 84.0%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3A86C8"/>
                </a:solidFill>
                <a:latin typeface="Calibri"/>
              </a:defRPr>
            </a:pPr>
            <a:r>
              <a:t>CPU AVX-512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307592"/>
            <a:ext cx="4586758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50.2%</a:t>
            </a:r>
          </a:p>
        </p:txBody>
      </p:sp>
      <p:sp>
        <p:nvSpPr>
          <p:cNvPr id="9" name="Rectangle 8"/>
          <p:cNvSpPr/>
          <p:nvPr/>
        </p:nvSpPr>
        <p:spPr>
          <a:xfrm>
            <a:off x="7147078" y="1307592"/>
            <a:ext cx="4557241" cy="36576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999999"/>
                </a:solidFill>
              </a:defRPr>
            </a:pPr>
            <a:r>
              <a:t>overhead: 49.8%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647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76B900"/>
                </a:solidFill>
                <a:latin typeface="Calibri"/>
              </a:defRPr>
            </a:pPr>
            <a:r>
              <a:t>GPU CUDA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746504"/>
            <a:ext cx="5584244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61.1%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44564" y="1746504"/>
            <a:ext cx="3559755" cy="36576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999999"/>
                </a:solidFill>
              </a:defRPr>
            </a:pPr>
            <a:r>
              <a:t>overhead: 38.9%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20370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76B900"/>
                </a:solidFill>
                <a:latin typeface="Calibri"/>
              </a:defRPr>
            </a:pPr>
            <a:r>
              <a:t>GPU TC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2185416"/>
            <a:ext cx="5842571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63.9%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2891" y="2185416"/>
            <a:ext cx="3301428" cy="36576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999999"/>
                </a:solidFill>
              </a:defRPr>
            </a:pPr>
            <a:r>
              <a:t>overhead: 36.1%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64261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D8833"/>
                </a:solidFill>
                <a:latin typeface="Calibri"/>
              </a:defRPr>
            </a:pPr>
            <a:r>
              <a:t>TPU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2624328"/>
            <a:ext cx="4681398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51.2%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41718" y="2624328"/>
            <a:ext cx="4462601" cy="36576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999999"/>
                </a:solidFill>
              </a:defRPr>
            </a:pPr>
            <a:r>
              <a:t>overhead: 48.8%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0815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96D6"/>
                </a:solidFill>
                <a:latin typeface="Calibri"/>
              </a:defRPr>
            </a:pPr>
            <a:r>
              <a:t>KPU (mixed)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3063240"/>
            <a:ext cx="3732127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40.8%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92447" y="3063240"/>
            <a:ext cx="5411872" cy="36576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0">
                <a:solidFill>
                  <a:srgbClr val="999999"/>
                </a:solidFill>
              </a:defRPr>
            </a:pPr>
            <a:r>
              <a:t>overhead: 59.2%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" y="3639312"/>
            <a:ext cx="10972800" cy="0"/>
          </a:xfrm>
          <a:prstGeom prst="line">
            <a:avLst/>
          </a:prstGeom>
          <a:ln w="25400">
            <a:solidFill>
              <a:srgbClr val="E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7200" y="37307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4040"/>
                </a:solidFill>
                <a:latin typeface="Calibri"/>
              </a:defRPr>
            </a:pPr>
            <a:r>
              <a:t>Known Model Gaps and Issues to Resolve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050791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9"/>
              </a:spcAft>
              <a:defRPr sz="1000" b="1">
                <a:solidFill>
                  <a:srgbClr val="F3C623"/>
                </a:solidFill>
                <a:latin typeface="Calibri"/>
              </a:defRPr>
            </a:pPr>
            <a:r>
              <a:t>1. GPU SM Baseline Power Not Modeled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   The 64K register file (256 KB SRAM), 4 operand collectors, 4 scoreboards, and 32-bank crossbar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   draw continuous power even between instructions. This static infrastructure energy is NOT captured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   in the per-instruction cycle model. It would increase GPU total and decrease GPU compute efficiency.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1">
                <a:solidFill>
                  <a:srgbClr val="F3C623"/>
                </a:solidFill>
                <a:latin typeface="Calibri"/>
              </a:defRPr>
            </a:pPr>
            <a:r>
              <a:t>2. Process Node Mismatch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   GPU at 4nm (E_base=1.30) vs TPU/KPU at 7nm (E_base=1.80). The GPU gets a 28% base advantage.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   Need: same-node comparison (all at 4nm or all at 7nm) to isolate architectural effects.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1">
                <a:solidFill>
                  <a:srgbClr val="F3C623"/>
                </a:solidFill>
                <a:latin typeface="Calibri"/>
              </a:defRPr>
            </a:pPr>
            <a:r>
              <a:t>3. Memory Technology Mismatch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   GPU HBM3 (5.5 pJ/byte) vs KPU LPDDR5 (8.0 pJ/byte). The GPU has 31% lower off-chip energy.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   At 1MB data, memory is 26% of GPU energy but 57% of KPU energy. Need: same memory comparison.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1">
                <a:solidFill>
                  <a:srgbClr val="F3C623"/>
                </a:solidFill>
                <a:latin typeface="Calibri"/>
              </a:defRPr>
            </a:pPr>
            <a:r>
              <a:t>4. KPU Precision Mix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   KPU default is 70% INT8 + 20% BF16 + 10% FP32 (avg MAC = 0.90 pJ).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   TPU is pure systolic at 1.44 pJ. Single-precision comparison would change the efficiency ratio.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