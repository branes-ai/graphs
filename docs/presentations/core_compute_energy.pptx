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Core Compute Engine Energy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B4D8"/>
                </a:solidFill>
                <a:latin typeface="Calibri"/>
              </a:defRPr>
            </a:pPr>
            <a:r>
              <a:t>Isolating Architecture from System: All at 7nm, No External Memory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0" y="1645920"/>
            <a:ext cx="7315200" cy="0"/>
          </a:xfrm>
          <a:prstGeom prst="line">
            <a:avLst/>
          </a:prstGeom>
          <a:ln w="2540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920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Three Distinct Modeling Domains: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3474720" cy="4114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Core Compute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Scalar ALU, SIMD ALU, SM/CU,</a:t>
            </a:r>
            <a:br/>
            <a:r>
              <a:t>Systolic Array, PE Array</a:t>
            </a:r>
            <a:br/>
            <a:r>
              <a:t>+ their local register files/buffers</a:t>
            </a:r>
            <a:br/>
            <a:br/>
            <a:r>
              <a:t>NOT workload-dependent.</a:t>
            </a:r>
            <a:br/>
            <a:r>
              <a:t>Determined by architecture.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434840"/>
            <a:ext cx="2560320" cy="27432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ECC71"/>
                </a:solidFill>
              </a:defRPr>
            </a:pPr>
            <a:r>
              <a:t>THIS DECK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286000"/>
            <a:ext cx="3474720" cy="4114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2. On-Chip 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7889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L1/L2/L3 caches (CPU)</a:t>
            </a:r>
            <a:br/>
            <a:r>
              <a:t>Shared Memory + L2 (GPU)</a:t>
            </a:r>
            <a:br/>
            <a:r>
              <a:t>Unified Buffer (TPU)</a:t>
            </a:r>
            <a:br/>
            <a:r>
              <a:t>EDDO Scratchpads (KPU)</a:t>
            </a:r>
            <a:br/>
            <a:br/>
            <a:r>
              <a:t>Workload-dependent.</a:t>
            </a:r>
            <a:br/>
            <a:r>
              <a:t>Data reuse pattern matters.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4434840"/>
            <a:ext cx="2560320" cy="27432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8C00"/>
                </a:solidFill>
              </a:defRPr>
            </a:pPr>
            <a:r>
              <a:t>Future deck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286000"/>
            <a:ext cx="3474720" cy="411480"/>
          </a:xfrm>
          <a:prstGeom prst="roundRect">
            <a:avLst/>
          </a:prstGeom>
          <a:solidFill>
            <a:srgbClr val="E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Memory Controller + I/O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7889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NoC / Crossbar to mem ctrl</a:t>
            </a:r>
            <a:br/>
            <a:r>
              <a:t>DDR/LPDDR/GDDR/HBM PHY</a:t>
            </a:r>
            <a:br/>
            <a:r>
              <a:t>External DRAM access</a:t>
            </a:r>
            <a:br/>
            <a:br/>
            <a:r>
              <a:t>System-dependent.</a:t>
            </a:r>
            <a:br/>
            <a:r>
              <a:t>Packaging + memory technology.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4434840"/>
            <a:ext cx="2560320" cy="27432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4040"/>
                </a:solidFill>
              </a:defRPr>
            </a:pPr>
            <a:r>
              <a:t>Memory Tech deck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" y="4846320"/>
            <a:ext cx="10972800" cy="0"/>
          </a:xfrm>
          <a:prstGeom prst="line">
            <a:avLst/>
          </a:prstGeom>
          <a:ln w="1270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493775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Core Compute Engines Compared (all at 7nm TSMC N7):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257800"/>
            <a:ext cx="2651760" cy="320040"/>
          </a:xfrm>
          <a:prstGeom prst="round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CPU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23559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8E8"/>
                </a:solidFill>
                <a:latin typeface="Calibri"/>
              </a:defRPr>
            </a:pPr>
            <a:r>
              <a:t>Scalar ALU + RF</a:t>
            </a:r>
            <a:br/>
            <a:r>
              <a:t>SIMD ALU (AVX-512) + VRF</a:t>
            </a:r>
            <a:br/>
            <a:r>
              <a:t>Granularity: 1 or 16 ops/instr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5257800"/>
            <a:ext cx="2651760" cy="32004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GPU 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623559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8E8"/>
                </a:solidFill>
                <a:latin typeface="Calibri"/>
              </a:defRPr>
            </a:pPr>
            <a:r>
              <a:t>32 CUDA Cores + 1 TensorCore</a:t>
            </a:r>
            <a:br/>
            <a:r>
              <a:t>+ 16K Register Bank</a:t>
            </a:r>
            <a:br/>
            <a:r>
              <a:t>+ Warp Sched + Scoreboard</a:t>
            </a:r>
            <a:br/>
            <a:r>
              <a:t>+ Operand Collector + Crossbar</a:t>
            </a:r>
            <a:br/>
            <a:r>
              <a:t>Granularity: 32 or 64 ops/instr</a:t>
            </a:r>
            <a:br/>
            <a:r>
              <a:t>x4 partitions = 1 SM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5257800"/>
            <a:ext cx="2651760" cy="320040"/>
          </a:xfrm>
          <a:prstGeom prst="roundRect">
            <a:avLst/>
          </a:prstGeom>
          <a:solidFill>
            <a:srgbClr val="DD8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TPU Tile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623559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8E8"/>
                </a:solidFill>
                <a:latin typeface="Calibri"/>
              </a:defRPr>
            </a:pPr>
            <a:r>
              <a:t>Input Buffer (SRAM)</a:t>
            </a:r>
            <a:br/>
            <a:r>
              <a:t>+ 128x128 Systolic Array</a:t>
            </a:r>
            <a:br/>
            <a:r>
              <a:t>+ Accumulators</a:t>
            </a:r>
            <a:br/>
            <a:r>
              <a:t>Granularity: 16,384 MACs/cycle</a:t>
            </a:r>
            <a:br/>
            <a:r>
              <a:t>Weight-stationary 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5257800"/>
            <a:ext cx="2651760" cy="32004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KPU Tile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5623559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8E8"/>
                </a:solidFill>
                <a:latin typeface="Calibri"/>
              </a:defRPr>
            </a:pPr>
            <a:r>
              <a:t>Input Buffer (EDDO L1)</a:t>
            </a:r>
            <a:br/>
            <a:r>
              <a:t>+ 16x16 PE Array</a:t>
            </a:r>
            <a:br/>
            <a:r>
              <a:t>+ SURE Network</a:t>
            </a:r>
            <a:br/>
            <a:r>
              <a:t>Granularity: 256 MACs/cycle</a:t>
            </a:r>
            <a:br/>
            <a:r>
              <a:t>A/B/C-stationary (any schedule)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CPU Core Compute Engine: Scalar + SIMD ALU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86C8"/>
                </a:solidFill>
                <a:latin typeface="Calibri"/>
              </a:defRPr>
            </a:pPr>
            <a:r>
              <a:t>Scalar Path (1 op per instruction)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19"/>
            <a:ext cx="2560320" cy="365760"/>
          </a:xfrm>
          <a:prstGeom prst="round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I-Cache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005839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00"/>
                </a:solidFill>
                <a:latin typeface="Calibri"/>
              </a:defRPr>
            </a:pPr>
            <a:r>
              <a:t>0.540 pJ</a:t>
            </a:r>
          </a:p>
        </p:txBody>
      </p:sp>
      <p:sp>
        <p:nvSpPr>
          <p:cNvPr id="6" name="Down Arrow 5"/>
          <p:cNvSpPr/>
          <p:nvPr/>
        </p:nvSpPr>
        <p:spPr>
          <a:xfrm>
            <a:off x="1554480" y="1325879"/>
            <a:ext cx="137160" cy="4572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371599"/>
            <a:ext cx="2560320" cy="365760"/>
          </a:xfrm>
          <a:prstGeom prst="roundRect">
            <a:avLst/>
          </a:prstGeom>
          <a:solidFill>
            <a:srgbClr val="5E6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Instruction Decode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417319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00"/>
                </a:solidFill>
                <a:latin typeface="Calibri"/>
              </a:defRPr>
            </a:pPr>
            <a:r>
              <a:t>0.288 pJ</a:t>
            </a:r>
          </a:p>
        </p:txBody>
      </p:sp>
      <p:sp>
        <p:nvSpPr>
          <p:cNvPr id="9" name="Down Arrow 8"/>
          <p:cNvSpPr/>
          <p:nvPr/>
        </p:nvSpPr>
        <p:spPr>
          <a:xfrm>
            <a:off x="1554480" y="1737360"/>
            <a:ext cx="137160" cy="4572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783079"/>
            <a:ext cx="2560320" cy="36576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RF Read (src1)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828799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00"/>
                </a:solidFill>
                <a:latin typeface="Calibri"/>
              </a:defRPr>
            </a:pPr>
            <a:r>
              <a:t>1.013 pJ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554480" y="2148839"/>
            <a:ext cx="137160" cy="4572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" y="2194560"/>
            <a:ext cx="2560320" cy="36576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RF Read (src2)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240279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00"/>
                </a:solidFill>
                <a:latin typeface="Calibri"/>
              </a:defRPr>
            </a:pPr>
            <a:r>
              <a:t>1.013 pJ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554480" y="2560320"/>
            <a:ext cx="137160" cy="4572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" y="2606039"/>
            <a:ext cx="256032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Scalar ALU (FP32 FMA)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651759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CC71"/>
                </a:solidFill>
                <a:latin typeface="Calibri"/>
              </a:defRPr>
            </a:pPr>
            <a:r>
              <a:t>1.800 pJ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554480" y="2971799"/>
            <a:ext cx="137160" cy="4572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5760" y="3017520"/>
            <a:ext cx="2560320" cy="365760"/>
          </a:xfrm>
          <a:prstGeom prst="roundRect">
            <a:avLst/>
          </a:prstGeom>
          <a:solidFill>
            <a:srgbClr val="E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RF Write (result)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063239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00"/>
                </a:solidFill>
                <a:latin typeface="Calibri"/>
              </a:defRPr>
            </a:pPr>
            <a:r>
              <a:t>1.215 pJ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520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onsolas"/>
              </a:defRPr>
            </a:pPr>
            <a:r>
              <a:t>Total: 2 * (0.540 + 0.288) + 2 * 1.013 + 1.800 + 1.215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749039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A86C8"/>
                </a:solidFill>
                <a:latin typeface="Consolas"/>
              </a:defRPr>
            </a:pPr>
            <a:r>
              <a:t>= 9.936 pJ/op  |  Compute eff: 18.1%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640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86C8"/>
                </a:solidFill>
                <a:latin typeface="Calibri"/>
              </a:defRPr>
            </a:pPr>
            <a:r>
              <a:t>SIMD Path (AVX-512: 16 ops per instruction)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960119"/>
            <a:ext cx="2560320" cy="365760"/>
          </a:xfrm>
          <a:prstGeom prst="round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I-Cache Read (1 instr)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97840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E8E8"/>
                </a:solidFill>
                <a:latin typeface="Consolas"/>
              </a:defRPr>
            </a:pPr>
            <a:r>
              <a:t>0.540 / 16 = 0.034 pJ/op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7132320" y="1325879"/>
            <a:ext cx="137160" cy="4572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943600" y="1371599"/>
            <a:ext cx="2560320" cy="365760"/>
          </a:xfrm>
          <a:prstGeom prst="roundRect">
            <a:avLst/>
          </a:prstGeom>
          <a:solidFill>
            <a:srgbClr val="5E6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Decode (1 instr)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138988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E8E8"/>
                </a:solidFill>
                <a:latin typeface="Consolas"/>
              </a:defRPr>
            </a:pPr>
            <a:r>
              <a:t>0.288 / 16 = 0.018 pJ/op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7132320" y="1737360"/>
            <a:ext cx="137160" cy="4572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943600" y="1783079"/>
            <a:ext cx="2560320" cy="36576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VRF Read src1 (1 vec reg)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180136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E8E8"/>
                </a:solidFill>
                <a:latin typeface="Consolas"/>
              </a:defRPr>
            </a:pPr>
            <a:r>
              <a:t>1.013 / 16 = 0.063 pJ/op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7132320" y="2148839"/>
            <a:ext cx="137160" cy="4572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943600" y="2194560"/>
            <a:ext cx="2560320" cy="36576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VRF Read src2 (1 vec reg)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22128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E8E8"/>
                </a:solidFill>
                <a:latin typeface="Consolas"/>
              </a:defRPr>
            </a:pPr>
            <a:r>
              <a:t>1.013 / 16 = 0.063 pJ/op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7132320" y="2560320"/>
            <a:ext cx="137160" cy="4572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0" y="2606039"/>
            <a:ext cx="256032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SIMD ALU x16 (FP32 FMA)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262432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CC71"/>
                </a:solidFill>
                <a:latin typeface="Consolas"/>
              </a:defRPr>
            </a:pPr>
            <a:r>
              <a:t>16 x 1.800 / 16 = 1.800 pJ/op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7132320" y="2971799"/>
            <a:ext cx="137160" cy="4572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943600" y="3017520"/>
            <a:ext cx="2560320" cy="365760"/>
          </a:xfrm>
          <a:prstGeom prst="roundRect">
            <a:avLst/>
          </a:prstGeom>
          <a:solidFill>
            <a:srgbClr val="E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VRF Write (1 vec reg)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30358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E8E8"/>
                </a:solidFill>
                <a:latin typeface="Consolas"/>
              </a:defRPr>
            </a:pPr>
            <a:r>
              <a:t>1.215 / 16 = 0.076 pJ/op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3520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onsolas"/>
              </a:defRPr>
            </a:pPr>
            <a:r>
              <a:t>(0.540 + 0.288 + 2*1.013 + 1.215) / 16  +  1.800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374903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A86C8"/>
                </a:solidFill>
                <a:latin typeface="Consolas"/>
              </a:defRPr>
            </a:pPr>
            <a:r>
              <a:t>= 2.309 pJ/op  |  Compute eff: 78.0%  |  4.3x better than scalar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7200" y="4114800"/>
            <a:ext cx="10972800" cy="0"/>
          </a:xfrm>
          <a:prstGeom prst="line">
            <a:avLst/>
          </a:prstGeom>
          <a:ln w="19050">
            <a:solidFill>
              <a:srgbClr val="3A8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457200" y="4206240"/>
            <a:ext cx="10972800" cy="54864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42519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CPU Energy Equation:  E_cpu = (E_ifetch + E_decode + 2*E_rf_read + E_rf_write) / SIMD_width  +  E_alu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SIMD amortizes the instruction overhead over 16 lanes. The ALU energy (1.800 pJ) is identical.</a:t>
            </a:r>
          </a:p>
          <a:p>
            <a:pPr algn="l">
              <a:spcAft>
                <a:spcPts val="439"/>
              </a:spcAft>
              <a:defRPr sz="1100" b="1">
                <a:solidFill>
                  <a:srgbClr val="FF8C00"/>
                </a:solidFill>
                <a:latin typeface="Calibri"/>
              </a:defRPr>
            </a:pPr>
            <a:r>
              <a:t>Wider SIMD = higher efficiency, but the instruction pipeline ALWAYS exists. Every op needs an instruction.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846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Granularity: 1 core = 1 scalar ALU + 1 SIMD ALU  |  Multi-core: N cores share L3  |  Each core has private L1i/L1d + L2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GPU SM: SIMT Engine + TensorCores + 64K Register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B4D8"/>
                </a:solidFill>
                <a:latin typeface="Calibri"/>
              </a:defRPr>
            </a:pPr>
            <a:r>
              <a:t>One SM partition (x4 per SM): the indivisible GPU compute block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5029200" cy="4572000"/>
          </a:xfrm>
          <a:prstGeom prst="rect">
            <a:avLst/>
          </a:prstGeom>
          <a:solidFill>
            <a:srgbClr val="22223E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961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6B900"/>
                </a:solidFill>
                <a:latin typeface="Calibri"/>
              </a:defRPr>
            </a:pPr>
            <a:r>
              <a:t>SM Partition (1 of 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19"/>
            <a:ext cx="2560320" cy="34747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Warp Scheduler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225295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E8E8E8"/>
                </a:solidFill>
                <a:latin typeface="Consolas"/>
              </a:defRPr>
            </a:pPr>
            <a:r>
              <a:t>0.875 pJ/instr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72767"/>
            <a:ext cx="2560320" cy="347472"/>
          </a:xfrm>
          <a:prstGeom prst="roundRect">
            <a:avLst/>
          </a:prstGeom>
          <a:solidFill>
            <a:srgbClr val="E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Scoreboard (RAW/WAW/WAR)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609343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E8E8E8"/>
                </a:solidFill>
                <a:latin typeface="Consolas"/>
              </a:defRPr>
            </a:pPr>
            <a:r>
              <a:t>0.525 pJ/instr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56815"/>
            <a:ext cx="2560320" cy="347472"/>
          </a:xfrm>
          <a:prstGeom prst="round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Register Addr Gen (x3)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993391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E8E8E8"/>
                </a:solidFill>
                <a:latin typeface="Consolas"/>
              </a:defRPr>
            </a:pPr>
            <a:r>
              <a:t>1.050 pJ/instr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40863"/>
            <a:ext cx="2560320" cy="347472"/>
          </a:xfrm>
          <a:prstGeom prst="roundRect">
            <a:avLst/>
          </a:prstGeom>
          <a:solidFill>
            <a:srgbClr val="F39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Operand Collector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37743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E8E8E8"/>
                </a:solidFill>
                <a:latin typeface="Consolas"/>
              </a:defRPr>
            </a:pPr>
            <a:r>
              <a:t>1.400 pJ (CUDA) / 0.875 pJ (TC)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24911"/>
            <a:ext cx="2560320" cy="347472"/>
          </a:xfrm>
          <a:prstGeom prst="round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Bank Arbitration (32 banks)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761487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E8E8E8"/>
                </a:solidFill>
                <a:latin typeface="Consolas"/>
              </a:defRPr>
            </a:pPr>
            <a:r>
              <a:t>0.525 pJ (CUDA) / 0.350 pJ (TC)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108960"/>
            <a:ext cx="2560320" cy="347472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Register File Bank (16K regs)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4553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E8E8E8"/>
                </a:solidFill>
                <a:latin typeface="Consolas"/>
              </a:defRPr>
            </a:pPr>
            <a:r>
              <a:t>0.281 pJ x 2 reads (CUDA)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93008"/>
            <a:ext cx="2560320" cy="347472"/>
          </a:xfrm>
          <a:prstGeom prst="roundRect">
            <a:avLst/>
          </a:prstGeom>
          <a:solidFill>
            <a:srgbClr val="CC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Crossbar (32-wide)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52958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E8E8E8"/>
                </a:solidFill>
                <a:latin typeface="Consolas"/>
              </a:defRPr>
            </a:pPr>
            <a:r>
              <a:t>0.700 pJ (CUDA) / 0.525 pJ (TC)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77056"/>
            <a:ext cx="2560320" cy="34747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32 CUDA Cores / 1 TensorCore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91363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2ECC71"/>
                </a:solidFill>
                <a:latin typeface="Consolas"/>
              </a:defRPr>
            </a:pPr>
            <a:r>
              <a:t>1.530 pJ/op (both paths)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261104"/>
            <a:ext cx="2560320" cy="347472"/>
          </a:xfrm>
          <a:prstGeom prst="roundRect">
            <a:avLst/>
          </a:prstGeom>
          <a:solidFill>
            <a:srgbClr val="E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Result Route + RF Write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2976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E8E8E8"/>
                </a:solidFill>
                <a:latin typeface="Consolas"/>
              </a:defRPr>
            </a:pPr>
            <a:r>
              <a:t>0.525 + 0.338 pJ (CUDA)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8686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6B900"/>
                </a:solidFill>
                <a:latin typeface="Calibri"/>
              </a:defRPr>
            </a:pPr>
            <a:r>
              <a:t>Energy Equations (per MAC, amortized over warp)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188719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8E8"/>
                </a:solidFill>
                <a:latin typeface="Calibri"/>
              </a:defRPr>
            </a:pPr>
            <a:r>
              <a:t>CUDA Core Path (amortized over 32 threads):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1417319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onsolas"/>
              </a:defRPr>
            </a:pPr>
            <a:r>
              <a:t>E_cuda = (E_sched + E_score + E_addr + E_coll + E_arb + E_rf + E_xbar + E_wb) / 32  +  E_alu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169164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onsolas"/>
              </a:defRPr>
            </a:pPr>
            <a:r>
              <a:t>= (0.875+0.525+1.05+1.40+0.525+0.562+0.70+0.863) / 32  +  1.530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1920239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Consolas"/>
              </a:defRPr>
            </a:pPr>
            <a:r>
              <a:t>= 0.203 (overhead)  +  1.530 (ALU)  =  1.733 pJ/op  |  Eff: 88.3%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228600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8E8"/>
                </a:solidFill>
                <a:latin typeface="Calibri"/>
              </a:defRPr>
            </a:pPr>
            <a:r>
              <a:t>TensorCore Path (amortized over 64 MACs per MMA):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25146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onsolas"/>
              </a:defRPr>
            </a:pPr>
            <a:r>
              <a:t>E_tc = (E_sched + E_score + E_addr + E_coll + E_arb + E_rf + E_xbar + E_wb) / 64  +  E_alu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278892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onsolas"/>
              </a:defRPr>
            </a:pPr>
            <a:r>
              <a:t>= (0.875+0.525+0.788+0.875+0.35+0.90+0.525+0.978) / 64  +  1.530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301752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Consolas"/>
              </a:defRPr>
            </a:pPr>
            <a:r>
              <a:t>= 0.075 (overhead)  +  1.530 (ALU)  =  1.605 pJ/op  |  Eff: 95.3%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760720" y="3383280"/>
            <a:ext cx="5760720" cy="0"/>
          </a:xfrm>
          <a:prstGeom prst="line">
            <a:avLst/>
          </a:prstGeom>
          <a:ln w="12700">
            <a:solidFill>
              <a:srgbClr val="FF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760720" y="347472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The Critical Point: Per-MAC vs Per-SM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3749039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Per-MAC overhead looks small (0.07-0.20 pJ) because it's amortized</a:t>
            </a:r>
          </a:p>
          <a:p>
            <a:pPr algn="l">
              <a:spcAft>
                <a:spcPts val="399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over 32-64 MACs. But the SM has 4 partitions, each with: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  * 16K registers (64 KB SRAM) -- always powered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  * Warp scheduler + scoreboard -- tracking 16 warps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  * Operand collector -- continuous buffering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  * Crossbar -- always ready for next warp switch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This infrastructure exists for ALL 2048 resident threads.</a:t>
            </a:r>
          </a:p>
          <a:p>
            <a:pPr algn="l">
              <a:spcAft>
                <a:spcPts val="399"/>
              </a:spcAft>
              <a:defRPr sz="1000" b="1">
                <a:solidFill>
                  <a:srgbClr val="F3C623"/>
                </a:solidFill>
                <a:latin typeface="Calibri"/>
              </a:defRPr>
            </a:pPr>
            <a:r>
              <a:t>Static power of 256 KB RF is NOT in the per-instruction model.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1264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Granularity: 1 SM = 4 partitions = 128 CUDA + 4 TC  |  Full GPU: 132 SMs (H100) share L2  |  SM has private L1/Shared Mem (192 KB)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TPU Core: Input Buffer + 128x128 Systolic Array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B4D8"/>
                </a:solidFill>
                <a:latin typeface="Calibri"/>
              </a:defRPr>
            </a:pPr>
            <a:r>
              <a:t>Weight-stationary dataflow: weights loaded once, inputs stream through, outputs drain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828800" cy="548640"/>
          </a:xfrm>
          <a:prstGeom prst="rect">
            <a:avLst/>
          </a:prstGeom>
          <a:solidFill>
            <a:srgbClr val="5588BB"/>
          </a:solidFill>
          <a:ln w="19050">
            <a:solidFill>
              <a:srgbClr val="DD8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Weight Buffer</a:t>
            </a:r>
            <a:br/>
            <a:r>
              <a:t>(SRAM)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005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Calibri"/>
              </a:defRPr>
            </a:pPr>
            <a:r>
              <a:t>Load once</a:t>
            </a:r>
            <a:br/>
            <a:r>
              <a:t>per tile</a:t>
            </a:r>
          </a:p>
        </p:txBody>
      </p:sp>
      <p:sp>
        <p:nvSpPr>
          <p:cNvPr id="6" name="Down Arrow 5"/>
          <p:cNvSpPr/>
          <p:nvPr/>
        </p:nvSpPr>
        <p:spPr>
          <a:xfrm>
            <a:off x="1280160" y="1463040"/>
            <a:ext cx="182880" cy="182880"/>
          </a:xfrm>
          <a:prstGeom prst="downArrow">
            <a:avLst/>
          </a:prstGeom>
          <a:solidFill>
            <a:srgbClr val="DD8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0" y="1828800"/>
            <a:ext cx="1828800" cy="548640"/>
          </a:xfrm>
          <a:prstGeom prst="rect">
            <a:avLst/>
          </a:prstGeom>
          <a:solidFill>
            <a:srgbClr val="5588BB"/>
          </a:solidFill>
          <a:ln w="19050">
            <a:solidFill>
              <a:srgbClr val="DD8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Input Buffer</a:t>
            </a:r>
            <a:br/>
            <a:r>
              <a:t>(L1 SRAM)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68880" y="2011680"/>
            <a:ext cx="228600" cy="182880"/>
          </a:xfrm>
          <a:prstGeom prst="rightArrow">
            <a:avLst/>
          </a:prstGeom>
          <a:solidFill>
            <a:srgbClr val="DD8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011680" cy="2286000"/>
          </a:xfrm>
          <a:prstGeom prst="rect">
            <a:avLst/>
          </a:prstGeom>
          <a:solidFill>
            <a:srgbClr val="2A3A4E"/>
          </a:solidFill>
          <a:ln w="19050">
            <a:solidFill>
              <a:srgbClr val="DD8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D8833"/>
                </a:solidFill>
                <a:latin typeface="Calibri"/>
              </a:defRPr>
            </a:pPr>
            <a:r>
              <a:t>128 x 128 Systolic Array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194560"/>
            <a:ext cx="256032" cy="219456"/>
          </a:xfrm>
          <a:prstGeom prst="rect">
            <a:avLst/>
          </a:prstGeom>
          <a:solidFill>
            <a:srgbClr val="AA6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2194560"/>
            <a:ext cx="256032" cy="219456"/>
          </a:xfrm>
          <a:prstGeom prst="rect">
            <a:avLst/>
          </a:prstGeom>
          <a:solidFill>
            <a:srgbClr val="AA6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97864" y="2194560"/>
            <a:ext cx="256032" cy="219456"/>
          </a:xfrm>
          <a:prstGeom prst="rect">
            <a:avLst/>
          </a:prstGeom>
          <a:solidFill>
            <a:srgbClr val="AA6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99616" y="2194560"/>
            <a:ext cx="256032" cy="219456"/>
          </a:xfrm>
          <a:prstGeom prst="rect">
            <a:avLst/>
          </a:prstGeom>
          <a:solidFill>
            <a:srgbClr val="AA6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1368" y="2194560"/>
            <a:ext cx="256032" cy="219456"/>
          </a:xfrm>
          <a:prstGeom prst="rect">
            <a:avLst/>
          </a:prstGeom>
          <a:solidFill>
            <a:srgbClr val="AA6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03120" y="2194560"/>
            <a:ext cx="256032" cy="219456"/>
          </a:xfrm>
          <a:prstGeom prst="rect">
            <a:avLst/>
          </a:prstGeom>
          <a:solidFill>
            <a:srgbClr val="AA6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468879"/>
            <a:ext cx="256032" cy="219456"/>
          </a:xfrm>
          <a:prstGeom prst="rect">
            <a:avLst/>
          </a:prstGeom>
          <a:solidFill>
            <a:srgbClr val="AA6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2468879"/>
            <a:ext cx="256032" cy="219456"/>
          </a:xfrm>
          <a:prstGeom prst="rect">
            <a:avLst/>
          </a:prstGeom>
          <a:solidFill>
            <a:srgbClr val="AA6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97864" y="2468879"/>
            <a:ext cx="256032" cy="219456"/>
          </a:xfrm>
          <a:prstGeom prst="rect">
            <a:avLst/>
          </a:prstGeom>
          <a:solidFill>
            <a:srgbClr val="AA6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99616" y="2468879"/>
            <a:ext cx="256032" cy="219456"/>
          </a:xfrm>
          <a:prstGeom prst="rect">
            <a:avLst/>
          </a:prstGeom>
          <a:solidFill>
            <a:srgbClr val="AA6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01368" y="2468879"/>
            <a:ext cx="256032" cy="219456"/>
          </a:xfrm>
          <a:prstGeom prst="rect">
            <a:avLst/>
          </a:prstGeom>
          <a:solidFill>
            <a:srgbClr val="AA6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03120" y="2468879"/>
            <a:ext cx="256032" cy="219456"/>
          </a:xfrm>
          <a:prstGeom prst="rect">
            <a:avLst/>
          </a:prstGeom>
          <a:solidFill>
            <a:srgbClr val="AA6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743200"/>
            <a:ext cx="256032" cy="219456"/>
          </a:xfrm>
          <a:prstGeom prst="rect">
            <a:avLst/>
          </a:prstGeom>
          <a:solidFill>
            <a:srgbClr val="AA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" y="2743200"/>
            <a:ext cx="256032" cy="219456"/>
          </a:xfrm>
          <a:prstGeom prst="rect">
            <a:avLst/>
          </a:prstGeom>
          <a:solidFill>
            <a:srgbClr val="AA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97864" y="2743200"/>
            <a:ext cx="256032" cy="219456"/>
          </a:xfrm>
          <a:prstGeom prst="rect">
            <a:avLst/>
          </a:prstGeom>
          <a:solidFill>
            <a:srgbClr val="AA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99616" y="2743200"/>
            <a:ext cx="256032" cy="219456"/>
          </a:xfrm>
          <a:prstGeom prst="rect">
            <a:avLst/>
          </a:prstGeom>
          <a:solidFill>
            <a:srgbClr val="AA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01368" y="2743200"/>
            <a:ext cx="256032" cy="219456"/>
          </a:xfrm>
          <a:prstGeom prst="rect">
            <a:avLst/>
          </a:prstGeom>
          <a:solidFill>
            <a:srgbClr val="AA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03120" y="2743200"/>
            <a:ext cx="256032" cy="219456"/>
          </a:xfrm>
          <a:prstGeom prst="rect">
            <a:avLst/>
          </a:prstGeom>
          <a:solidFill>
            <a:srgbClr val="AA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3017520"/>
            <a:ext cx="256032" cy="219456"/>
          </a:xfrm>
          <a:prstGeom prst="rect">
            <a:avLst/>
          </a:prstGeom>
          <a:solidFill>
            <a:srgbClr val="AA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" y="3017520"/>
            <a:ext cx="256032" cy="219456"/>
          </a:xfrm>
          <a:prstGeom prst="rect">
            <a:avLst/>
          </a:prstGeom>
          <a:solidFill>
            <a:srgbClr val="AA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97864" y="3017520"/>
            <a:ext cx="256032" cy="219456"/>
          </a:xfrm>
          <a:prstGeom prst="rect">
            <a:avLst/>
          </a:prstGeom>
          <a:solidFill>
            <a:srgbClr val="AA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99616" y="3017520"/>
            <a:ext cx="256032" cy="219456"/>
          </a:xfrm>
          <a:prstGeom prst="rect">
            <a:avLst/>
          </a:prstGeom>
          <a:solidFill>
            <a:srgbClr val="AA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01368" y="3017520"/>
            <a:ext cx="256032" cy="219456"/>
          </a:xfrm>
          <a:prstGeom prst="rect">
            <a:avLst/>
          </a:prstGeom>
          <a:solidFill>
            <a:srgbClr val="AA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03120" y="3017520"/>
            <a:ext cx="256032" cy="219456"/>
          </a:xfrm>
          <a:prstGeom prst="rect">
            <a:avLst/>
          </a:prstGeom>
          <a:solidFill>
            <a:srgbClr val="AA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3291839"/>
            <a:ext cx="256032" cy="219456"/>
          </a:xfrm>
          <a:prstGeom prst="rect">
            <a:avLst/>
          </a:prstGeom>
          <a:solidFill>
            <a:srgbClr val="AA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" y="3291839"/>
            <a:ext cx="256032" cy="219456"/>
          </a:xfrm>
          <a:prstGeom prst="rect">
            <a:avLst/>
          </a:prstGeom>
          <a:solidFill>
            <a:srgbClr val="AA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97864" y="3291839"/>
            <a:ext cx="256032" cy="219456"/>
          </a:xfrm>
          <a:prstGeom prst="rect">
            <a:avLst/>
          </a:prstGeom>
          <a:solidFill>
            <a:srgbClr val="AA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99616" y="3291839"/>
            <a:ext cx="256032" cy="219456"/>
          </a:xfrm>
          <a:prstGeom prst="rect">
            <a:avLst/>
          </a:prstGeom>
          <a:solidFill>
            <a:srgbClr val="AA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01368" y="3291839"/>
            <a:ext cx="256032" cy="219456"/>
          </a:xfrm>
          <a:prstGeom prst="rect">
            <a:avLst/>
          </a:prstGeom>
          <a:solidFill>
            <a:srgbClr val="AA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03120" y="3291839"/>
            <a:ext cx="256032" cy="219456"/>
          </a:xfrm>
          <a:prstGeom prst="rect">
            <a:avLst/>
          </a:prstGeom>
          <a:solidFill>
            <a:srgbClr val="AA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3566160"/>
            <a:ext cx="256032" cy="219456"/>
          </a:xfrm>
          <a:prstGeom prst="rect">
            <a:avLst/>
          </a:prstGeom>
          <a:solidFill>
            <a:srgbClr val="AA7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6112" y="3566160"/>
            <a:ext cx="256032" cy="219456"/>
          </a:xfrm>
          <a:prstGeom prst="rect">
            <a:avLst/>
          </a:prstGeom>
          <a:solidFill>
            <a:srgbClr val="AA7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97864" y="3566160"/>
            <a:ext cx="256032" cy="219456"/>
          </a:xfrm>
          <a:prstGeom prst="rect">
            <a:avLst/>
          </a:prstGeom>
          <a:solidFill>
            <a:srgbClr val="AA7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99616" y="3566160"/>
            <a:ext cx="256032" cy="219456"/>
          </a:xfrm>
          <a:prstGeom prst="rect">
            <a:avLst/>
          </a:prstGeom>
          <a:solidFill>
            <a:srgbClr val="AA7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01368" y="3566160"/>
            <a:ext cx="256032" cy="219456"/>
          </a:xfrm>
          <a:prstGeom prst="rect">
            <a:avLst/>
          </a:prstGeom>
          <a:solidFill>
            <a:srgbClr val="AA7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03120" y="3566160"/>
            <a:ext cx="256032" cy="219456"/>
          </a:xfrm>
          <a:prstGeom prst="rect">
            <a:avLst/>
          </a:prstGeom>
          <a:solidFill>
            <a:srgbClr val="AA7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3840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D8833"/>
                </a:solidFill>
                <a:latin typeface="Calibri"/>
              </a:defRPr>
            </a:pPr>
            <a:r>
              <a:t>16,384 MACs/cycle</a:t>
            </a:r>
          </a:p>
        </p:txBody>
      </p:sp>
      <p:sp>
        <p:nvSpPr>
          <p:cNvPr id="48" name="Down Arrow 47"/>
          <p:cNvSpPr/>
          <p:nvPr/>
        </p:nvSpPr>
        <p:spPr>
          <a:xfrm>
            <a:off x="1280160" y="4114800"/>
            <a:ext cx="182880" cy="182880"/>
          </a:xfrm>
          <a:prstGeom prst="downArrow">
            <a:avLst/>
          </a:prstGeom>
          <a:solidFill>
            <a:srgbClr val="DD8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" y="4343400"/>
            <a:ext cx="2011680" cy="457200"/>
          </a:xfrm>
          <a:prstGeom prst="rect">
            <a:avLst/>
          </a:prstGeom>
          <a:solidFill>
            <a:srgbClr val="5588BB"/>
          </a:solidFill>
          <a:ln w="19050">
            <a:solidFill>
              <a:srgbClr val="DD8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Accumulators +</a:t>
            </a:r>
            <a:br/>
            <a:r>
              <a:t>Output Buffer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9144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D8833"/>
                </a:solidFill>
                <a:latin typeface="Calibri"/>
              </a:defRPr>
            </a:pPr>
            <a:r>
              <a:t>TPU Core Energy Equation (per MAC):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12344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E_tpu = E_weight_load/reuse + E_input_feed + E_systolic_mac + E_output_drain/array_size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15544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onsolas"/>
              </a:defRPr>
            </a:pPr>
            <a:r>
              <a:t>E_tpu = 0.500/64 + 0.300 + 1.440 + 0.300/128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1828800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Consolas"/>
              </a:defRPr>
            </a:pPr>
            <a:r>
              <a:t>= 0.008 + 0.300 + 1.440 + 0.002 = 1.750 pJ/op  (input-feed dominated overhead)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0" y="2194560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8E8"/>
                </a:solidFill>
                <a:latin typeface="Calibri"/>
              </a:defRPr>
            </a:pPr>
            <a:r>
              <a:t>Model output (from build_tpu_cycle_energy at 7nm, L1-resident):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4880" y="24688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Config (one-time)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24688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onsolas"/>
              </a:defRPr>
            </a:pPr>
            <a:r>
              <a:t>0.003 pJ/op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54880" y="272491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88BB"/>
                </a:solidFill>
                <a:latin typeface="Calibri"/>
              </a:defRPr>
            </a:pPr>
            <a:r>
              <a:t>Weight load (amortized 64x)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27249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onsolas"/>
              </a:defRPr>
            </a:pPr>
            <a:r>
              <a:t>0.016 pJ/op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54880" y="298094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8C00"/>
                </a:solidFill>
                <a:latin typeface="Calibri"/>
              </a:defRPr>
            </a:pPr>
            <a:r>
              <a:t>Input feed (one edge, per cycle)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0" y="298094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onsolas"/>
              </a:defRPr>
            </a:pPr>
            <a:r>
              <a:t>0.610 pJ/op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54880" y="323697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CC71"/>
                </a:solidFill>
                <a:latin typeface="Calibri"/>
              </a:defRPr>
            </a:pPr>
            <a:r>
              <a:t>Systolic MAC (128x128)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0" y="323697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onsolas"/>
              </a:defRPr>
            </a:pPr>
            <a:r>
              <a:t>1.440 pJ/op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54880" y="34930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Partial sum accumulation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0" y="349300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onsolas"/>
              </a:defRPr>
            </a:pPr>
            <a:r>
              <a:t>0.006 pJ/op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54880" y="3749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88BB"/>
                </a:solidFill>
                <a:latin typeface="Calibri"/>
              </a:defRPr>
            </a:pPr>
            <a:r>
              <a:t>Output drain (one edge)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86800" y="3749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onsolas"/>
              </a:defRPr>
            </a:pPr>
            <a:r>
              <a:t>0.010 pJ/op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54880" y="40050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D8833"/>
                </a:solidFill>
                <a:latin typeface="Calibri"/>
              </a:defRPr>
            </a:pPr>
            <a:r>
              <a:t>TOTAL (core only)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86800" y="40050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3C623"/>
                </a:solidFill>
                <a:latin typeface="Consolas"/>
              </a:defRPr>
            </a:pPr>
            <a:r>
              <a:t>2.085 pJ/op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4572000" y="4389120"/>
            <a:ext cx="6858000" cy="0"/>
          </a:xfrm>
          <a:prstGeom prst="line">
            <a:avLst/>
          </a:prstGeom>
          <a:ln w="12700">
            <a:solidFill>
              <a:srgbClr val="DD88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4572000" y="4480559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9"/>
              </a:spcAft>
              <a:defRPr sz="1000" b="1">
                <a:solidFill>
                  <a:srgbClr val="DD8833"/>
                </a:solidFill>
                <a:latin typeface="Calibri"/>
              </a:defRPr>
            </a:pPr>
            <a:r>
              <a:t>Key Characteristics: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  * No instruction fetch per operation (fixed-function)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  * No register file arbitration (data flows spatially)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FF8C00"/>
                </a:solidFill>
                <a:latin typeface="Calibri"/>
              </a:defRPr>
            </a:pPr>
            <a:r>
              <a:t>  * Weight-stationary ONLY -- cannot do input/output stationary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  * Input feed (0.610 pJ/op) dominates overhead -- each input must enter at array edge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FF8C00"/>
                </a:solidFill>
                <a:latin typeface="Calibri"/>
              </a:defRPr>
            </a:pPr>
            <a:r>
              <a:t>  * Granularity is LARGE: 128x128 = 16,384 MACs per cycle. Small workloads waste MACs.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4320" y="61264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Granularity: 1 MXU = 128x128 systolic array  |  Full TPU: 2 MXUs + Unified Buffer (24 MB)  |  Weight-stationary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KPU Tile: Input Buffer + 16x16 PE Array + SURE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B4D8"/>
                </a:solidFill>
                <a:latin typeface="Calibri"/>
              </a:defRPr>
            </a:pPr>
            <a:r>
              <a:t>Programmable domain flow: A/B/C-stationary, any SURE schedule, compile-time routed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286000" cy="548640"/>
          </a:xfrm>
          <a:prstGeom prst="rect">
            <a:avLst/>
          </a:prstGeom>
          <a:solidFill>
            <a:srgbClr val="5588BB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EDDO L1 Stream Buffer</a:t>
            </a:r>
            <a:br/>
            <a:r>
              <a:t>(software-managed SRAM)</a:t>
            </a:r>
          </a:p>
        </p:txBody>
      </p:sp>
      <p:sp>
        <p:nvSpPr>
          <p:cNvPr id="5" name="Down Arrow 4"/>
          <p:cNvSpPr/>
          <p:nvPr/>
        </p:nvSpPr>
        <p:spPr>
          <a:xfrm>
            <a:off x="1508760" y="1463040"/>
            <a:ext cx="182880" cy="137160"/>
          </a:xfrm>
          <a:prstGeom prst="downArrow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286000" cy="365760"/>
          </a:xfrm>
          <a:prstGeom prst="rect">
            <a:avLst/>
          </a:prstGeom>
          <a:solidFill>
            <a:srgbClr val="447755"/>
          </a:solidFill>
          <a:ln w="19050">
            <a:solidFill>
              <a:srgbClr val="00C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Streamer (vector -&gt; token stream)</a:t>
            </a:r>
          </a:p>
        </p:txBody>
      </p:sp>
      <p:sp>
        <p:nvSpPr>
          <p:cNvPr id="7" name="Down Arrow 6"/>
          <p:cNvSpPr/>
          <p:nvPr/>
        </p:nvSpPr>
        <p:spPr>
          <a:xfrm>
            <a:off x="1508760" y="2011680"/>
            <a:ext cx="182880" cy="137160"/>
          </a:xfrm>
          <a:prstGeom prst="downArrow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40280"/>
            <a:ext cx="2286000" cy="2011680"/>
          </a:xfrm>
          <a:prstGeom prst="rect">
            <a:avLst/>
          </a:prstGeom>
          <a:solidFill>
            <a:srgbClr val="1A3A4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D6"/>
                </a:solidFill>
                <a:latin typeface="Calibri"/>
              </a:defRPr>
            </a:pPr>
            <a:r>
              <a:t>16 x 16 PE Array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606040"/>
            <a:ext cx="347472" cy="219456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PE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41832" y="2715768"/>
            <a:ext cx="54864" cy="0"/>
          </a:xfrm>
          <a:prstGeom prst="line">
            <a:avLst/>
          </a:prstGeom>
          <a:ln w="9525">
            <a:solidFill>
              <a:srgbClr val="00C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96696" y="2606040"/>
            <a:ext cx="347472" cy="219456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PE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44168" y="2715768"/>
            <a:ext cx="54864" cy="0"/>
          </a:xfrm>
          <a:prstGeom prst="line">
            <a:avLst/>
          </a:prstGeom>
          <a:ln w="9525">
            <a:solidFill>
              <a:srgbClr val="00C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399032" y="2606040"/>
            <a:ext cx="347472" cy="219456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PE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46504" y="2715768"/>
            <a:ext cx="54864" cy="0"/>
          </a:xfrm>
          <a:prstGeom prst="line">
            <a:avLst/>
          </a:prstGeom>
          <a:ln w="9525">
            <a:solidFill>
              <a:srgbClr val="00C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801368" y="2606040"/>
            <a:ext cx="347472" cy="219456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PE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48840" y="2715768"/>
            <a:ext cx="54864" cy="0"/>
          </a:xfrm>
          <a:prstGeom prst="line">
            <a:avLst/>
          </a:prstGeom>
          <a:ln w="9525">
            <a:solidFill>
              <a:srgbClr val="00C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203704" y="2606040"/>
            <a:ext cx="347472" cy="219456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880360"/>
            <a:ext cx="347472" cy="219456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PE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1832" y="2990088"/>
            <a:ext cx="54864" cy="0"/>
          </a:xfrm>
          <a:prstGeom prst="line">
            <a:avLst/>
          </a:prstGeom>
          <a:ln w="9525">
            <a:solidFill>
              <a:srgbClr val="00C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96696" y="2880360"/>
            <a:ext cx="347472" cy="219456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PE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344168" y="2990088"/>
            <a:ext cx="54864" cy="0"/>
          </a:xfrm>
          <a:prstGeom prst="line">
            <a:avLst/>
          </a:prstGeom>
          <a:ln w="9525">
            <a:solidFill>
              <a:srgbClr val="00C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399032" y="2880360"/>
            <a:ext cx="347472" cy="219456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PE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46504" y="2990088"/>
            <a:ext cx="54864" cy="0"/>
          </a:xfrm>
          <a:prstGeom prst="line">
            <a:avLst/>
          </a:prstGeom>
          <a:ln w="9525">
            <a:solidFill>
              <a:srgbClr val="00C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801368" y="2880360"/>
            <a:ext cx="347472" cy="219456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PE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148840" y="2990088"/>
            <a:ext cx="54864" cy="0"/>
          </a:xfrm>
          <a:prstGeom prst="line">
            <a:avLst/>
          </a:prstGeom>
          <a:ln w="9525">
            <a:solidFill>
              <a:srgbClr val="00C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2203704" y="2880360"/>
            <a:ext cx="347472" cy="219456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PE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3154680"/>
            <a:ext cx="347472" cy="219456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PE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1832" y="3264408"/>
            <a:ext cx="54864" cy="0"/>
          </a:xfrm>
          <a:prstGeom prst="line">
            <a:avLst/>
          </a:prstGeom>
          <a:ln w="9525">
            <a:solidFill>
              <a:srgbClr val="00C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96696" y="3154680"/>
            <a:ext cx="347472" cy="219456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PE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344168" y="3264408"/>
            <a:ext cx="54864" cy="0"/>
          </a:xfrm>
          <a:prstGeom prst="line">
            <a:avLst/>
          </a:prstGeom>
          <a:ln w="9525">
            <a:solidFill>
              <a:srgbClr val="00C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399032" y="3154680"/>
            <a:ext cx="347472" cy="219456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PE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746504" y="3264408"/>
            <a:ext cx="54864" cy="0"/>
          </a:xfrm>
          <a:prstGeom prst="line">
            <a:avLst/>
          </a:prstGeom>
          <a:ln w="9525">
            <a:solidFill>
              <a:srgbClr val="00C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801368" y="3154680"/>
            <a:ext cx="347472" cy="219456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PE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148840" y="3264408"/>
            <a:ext cx="54864" cy="0"/>
          </a:xfrm>
          <a:prstGeom prst="line">
            <a:avLst/>
          </a:prstGeom>
          <a:ln w="9525">
            <a:solidFill>
              <a:srgbClr val="00C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203704" y="3154680"/>
            <a:ext cx="347472" cy="219456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PE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3429000"/>
            <a:ext cx="347472" cy="219456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PE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41832" y="3538728"/>
            <a:ext cx="54864" cy="0"/>
          </a:xfrm>
          <a:prstGeom prst="line">
            <a:avLst/>
          </a:prstGeom>
          <a:ln w="9525">
            <a:solidFill>
              <a:srgbClr val="00C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996696" y="3429000"/>
            <a:ext cx="347472" cy="219456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PE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344168" y="3538728"/>
            <a:ext cx="54864" cy="0"/>
          </a:xfrm>
          <a:prstGeom prst="line">
            <a:avLst/>
          </a:prstGeom>
          <a:ln w="9525">
            <a:solidFill>
              <a:srgbClr val="00C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1399032" y="3429000"/>
            <a:ext cx="347472" cy="219456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PE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746504" y="3538728"/>
            <a:ext cx="54864" cy="0"/>
          </a:xfrm>
          <a:prstGeom prst="line">
            <a:avLst/>
          </a:prstGeom>
          <a:ln w="9525">
            <a:solidFill>
              <a:srgbClr val="00C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1801368" y="3429000"/>
            <a:ext cx="347472" cy="219456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PE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148840" y="3538728"/>
            <a:ext cx="54864" cy="0"/>
          </a:xfrm>
          <a:prstGeom prst="line">
            <a:avLst/>
          </a:prstGeom>
          <a:ln w="9525">
            <a:solidFill>
              <a:srgbClr val="00C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2203704" y="3429000"/>
            <a:ext cx="347472" cy="219456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PE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3703320"/>
            <a:ext cx="347472" cy="219456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PE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41832" y="3813048"/>
            <a:ext cx="54864" cy="0"/>
          </a:xfrm>
          <a:prstGeom prst="line">
            <a:avLst/>
          </a:prstGeom>
          <a:ln w="9525">
            <a:solidFill>
              <a:srgbClr val="00C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996696" y="3703320"/>
            <a:ext cx="347472" cy="219456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PE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344168" y="3813048"/>
            <a:ext cx="54864" cy="0"/>
          </a:xfrm>
          <a:prstGeom prst="line">
            <a:avLst/>
          </a:prstGeom>
          <a:ln w="9525">
            <a:solidFill>
              <a:srgbClr val="00C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1399032" y="3703320"/>
            <a:ext cx="347472" cy="219456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PE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746504" y="3813048"/>
            <a:ext cx="54864" cy="0"/>
          </a:xfrm>
          <a:prstGeom prst="line">
            <a:avLst/>
          </a:prstGeom>
          <a:ln w="9525">
            <a:solidFill>
              <a:srgbClr val="00C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1801368" y="3703320"/>
            <a:ext cx="347472" cy="219456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PE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2148840" y="3813048"/>
            <a:ext cx="54864" cy="0"/>
          </a:xfrm>
          <a:prstGeom prst="line">
            <a:avLst/>
          </a:prstGeom>
          <a:ln w="9525">
            <a:solidFill>
              <a:srgbClr val="00C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2203704" y="3703320"/>
            <a:ext cx="347472" cy="219456"/>
          </a:xfrm>
          <a:prstGeom prst="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PE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40233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D6"/>
                </a:solidFill>
                <a:latin typeface="Calibri"/>
              </a:defRPr>
            </a:pPr>
            <a:r>
              <a:t>256 MACs/cycle per tile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42062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CC88"/>
                </a:solidFill>
                <a:latin typeface="Calibri"/>
              </a:defRPr>
            </a:pPr>
            <a:r>
              <a:t>SURE network: PE-to-PE wires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9144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KPU Tile Energy Equation (per MAC):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12344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E_kpu = E_config/N_ops + 2 * E_pe_wire + E_domain_mac + E_local_reg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0" y="15544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onsolas"/>
              </a:defRPr>
            </a:pPr>
            <a:r>
              <a:t>E_kpu = ~0 + 2 * 0.022 + E_mac(precision) + 0.009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0" y="1828800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Consolas"/>
              </a:defRPr>
            </a:pPr>
            <a:r>
              <a:t>BF16: 0.053 + 1.080 = 1.133 pJ/op  |  INT8: 0.053 + 0.675 = 0.728 pJ/op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2194560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8E8"/>
                </a:solidFill>
                <a:latin typeface="Calibri"/>
              </a:defRPr>
            </a:pPr>
            <a:r>
              <a:t>Model output (from build_kpu_cycle_energy at 7nm, L1-resident, mixed precision):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54880" y="24688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Domain program load (1-time)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0" y="2468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onsolas"/>
              </a:defRPr>
            </a:pPr>
            <a:r>
              <a:t>0.000 pJ/op (amortized)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54880" y="27157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Domain tracker (64 tiles)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86800" y="271576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onsolas"/>
              </a:defRPr>
            </a:pPr>
            <a:r>
              <a:t>0.001 pJ/op (amortized)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54880" y="296265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C88"/>
                </a:solidFill>
                <a:latin typeface="Calibri"/>
              </a:defRPr>
            </a:pPr>
            <a:r>
              <a:t>PE-to-PE transfer (x2 operands)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0" y="296265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onsolas"/>
              </a:defRPr>
            </a:pPr>
            <a:r>
              <a:t>0.044 pJ/op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54880" y="320954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B0D0"/>
                </a:solidFill>
                <a:latin typeface="Calibri"/>
              </a:defRPr>
            </a:pPr>
            <a:r>
              <a:t>Local register write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0" y="320954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onsolas"/>
              </a:defRPr>
            </a:pPr>
            <a:r>
              <a:t>0.009 pJ/op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54880" y="34564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CC71"/>
                </a:solidFill>
                <a:latin typeface="Calibri"/>
              </a:defRPr>
            </a:pPr>
            <a:r>
              <a:t>INT8 MACs (70%)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0" y="34564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onsolas"/>
              </a:defRPr>
            </a:pPr>
            <a:r>
              <a:t>0.473 pJ/op (weighted)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54880" y="3703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CC71"/>
                </a:solidFill>
                <a:latin typeface="Calibri"/>
              </a:defRPr>
            </a:pPr>
            <a:r>
              <a:t>BF16 MACs (20%)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86800" y="3703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onsolas"/>
              </a:defRPr>
            </a:pPr>
            <a:r>
              <a:t>0.216 pJ/op (weighted)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54880" y="39502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CC71"/>
                </a:solidFill>
                <a:latin typeface="Calibri"/>
              </a:defRPr>
            </a:pPr>
            <a:r>
              <a:t>FP32 MACs (10%)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86800" y="395020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onsolas"/>
              </a:defRPr>
            </a:pPr>
            <a:r>
              <a:t>0.216 pJ/op (weighted)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54880" y="419709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D6"/>
                </a:solidFill>
                <a:latin typeface="Calibri"/>
              </a:defRPr>
            </a:pPr>
            <a:r>
              <a:t>TOTAL (core only, mixed)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86800" y="419709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3C623"/>
                </a:solidFill>
                <a:latin typeface="Consolas"/>
              </a:defRPr>
            </a:pPr>
            <a:r>
              <a:t>0.958 pJ/op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4572000" y="4480560"/>
            <a:ext cx="6858000" cy="0"/>
          </a:xfrm>
          <a:prstGeom prst="line">
            <a:avLst/>
          </a:prstGeom>
          <a:ln w="12700">
            <a:solidFill>
              <a:srgbClr val="009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4572000" y="45720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9"/>
              </a:spcAft>
              <a:defRPr sz="1000" b="1">
                <a:solidFill>
                  <a:srgbClr val="0096D6"/>
                </a:solidFill>
                <a:latin typeface="Calibri"/>
              </a:defRPr>
            </a:pPr>
            <a:r>
              <a:t>Key Characteristics: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  * No instruction fetch per operation (domain program loaded once)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  * No register file -- PE-to-PE wire transfer at 0.022 pJ (vs GPU's ~3 pJ/warp infrastructure)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  * Programmable: A/B/C-stationary, any SURE schedule (vs TPU weight-stationary only)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  * Small tile (256 MACs) = better utilization at batch=1 than TPU's 16,384 MACs</a:t>
            </a:r>
          </a:p>
          <a:p>
            <a:pPr algn="l">
              <a:spcAft>
                <a:spcPts val="399"/>
              </a:spcAft>
              <a:defRPr sz="1000" b="1">
                <a:solidFill>
                  <a:srgbClr val="F3C623"/>
                </a:solidFill>
                <a:latin typeface="Calibri"/>
              </a:defRPr>
            </a:pPr>
            <a:r>
              <a:t>  * Overhead is 5.5% of total -- 94.4% of energy is useful compute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4320" y="61264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Granularity: 1 tile = 16x16 = 256 MACs  |  Full KPU: 64 tiles (KPU-T64) to 768 tiles (KPU-T768)  |  Each tile has private L1 stream buffer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Core Compute Energy: Side-by-Side at 7nm (No External Memory)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548640"/>
          <a:ext cx="11521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CPU Scalar</a:t>
                      </a:r>
                    </a:p>
                  </a:txBody>
                  <a:tcPr>
                    <a:solidFill>
                      <a:srgbClr val="3A8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CPU AVX-512</a:t>
                      </a:r>
                    </a:p>
                  </a:txBody>
                  <a:tcPr>
                    <a:solidFill>
                      <a:srgbClr val="3A8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GPU CUDA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GPU TensorCore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TPU 128x128</a:t>
                      </a:r>
                    </a:p>
                  </a:txBody>
                  <a:tcPr>
                    <a:solidFill>
                      <a:srgbClr val="DD88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KPU 16x16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B4D8"/>
                          </a:solidFill>
                        </a:defRPr>
                      </a:pPr>
                      <a:r>
                        <a:t>MAC energy (pJ)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1.800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1.800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1.530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1.530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1.440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0.905*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B4D8"/>
                          </a:solidFill>
                        </a:defRPr>
                      </a:pPr>
                      <a:r>
                        <a:t>Overhead (pJ/op)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8.136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0.509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0.418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0.284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0.639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0.053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3C623"/>
                          </a:solidFill>
                        </a:defRPr>
                      </a:pPr>
                      <a:r>
                        <a:t>Total (pJ/op)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3C623"/>
                          </a:solidFill>
                        </a:defRPr>
                      </a:pPr>
                      <a:r>
                        <a:t>9.936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3C623"/>
                          </a:solidFill>
                        </a:defRPr>
                      </a:pPr>
                      <a:r>
                        <a:t>2.309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3C623"/>
                          </a:solidFill>
                        </a:defRPr>
                      </a:pPr>
                      <a:r>
                        <a:t>1.948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3C623"/>
                          </a:solidFill>
                        </a:defRPr>
                      </a:pPr>
                      <a:r>
                        <a:t>1.814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3C623"/>
                          </a:solidFill>
                        </a:defRPr>
                      </a:pPr>
                      <a:r>
                        <a:t>2.085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3C623"/>
                          </a:solidFill>
                        </a:defRPr>
                      </a:pPr>
                      <a:r>
                        <a:t>0.958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ECC71"/>
                          </a:solidFill>
                        </a:defRPr>
                      </a:pPr>
                      <a:r>
                        <a:t>Compute Efficiency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ECC71"/>
                          </a:solidFill>
                        </a:defRPr>
                      </a:pPr>
                      <a:r>
                        <a:t>18.1%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ECC71"/>
                          </a:solidFill>
                        </a:defRPr>
                      </a:pPr>
                      <a:r>
                        <a:t>78.0%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ECC71"/>
                          </a:solidFill>
                        </a:defRPr>
                      </a:pPr>
                      <a:r>
                        <a:t>78.5%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ECC71"/>
                          </a:solidFill>
                        </a:defRPr>
                      </a:pPr>
                      <a:r>
                        <a:t>84.4%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ECC71"/>
                          </a:solidFill>
                        </a:defRPr>
                      </a:pPr>
                      <a:r>
                        <a:t>69.4%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ECC71"/>
                          </a:solidFill>
                        </a:defRPr>
                      </a:pPr>
                      <a:r>
                        <a:t>94.4%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B4D8"/>
                          </a:solidFill>
                        </a:defRPr>
                      </a:pPr>
                      <a:r>
                        <a:t>Amortization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128-16K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256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B4D8"/>
                          </a:solidFill>
                        </a:defRPr>
                      </a:pPr>
                      <a:r>
                        <a:t>MACs per cycle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256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16,384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256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B4D8"/>
                          </a:solidFill>
                        </a:defRPr>
                      </a:pPr>
                      <a:r>
                        <a:t>Has instruction fetch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B4D8"/>
                          </a:solidFill>
                        </a:defRPr>
                      </a:pPr>
                      <a:r>
                        <a:t>Has register file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256KB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256KB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No (PE)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No (PE)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B4D8"/>
                          </a:solidFill>
                        </a:defRPr>
                      </a:pPr>
                      <a:r>
                        <a:t>Programmable schedule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Weight only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A/B/C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379476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* KPU mixed precision: 70% INT8 (0.675) + 20% BF16 (1.080) + 10% FP32 (2.160) = 0.905 pJ avg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690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Energy per Op (pJ) -- Green = Compute, Gray = Overhead: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434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3A86C8"/>
                </a:solidFill>
                <a:latin typeface="Calibri"/>
              </a:defRPr>
            </a:pPr>
            <a:r>
              <a:t>CPU Scalar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4343400"/>
            <a:ext cx="1316736" cy="2926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1.80</a:t>
            </a:r>
          </a:p>
        </p:txBody>
      </p:sp>
      <p:sp>
        <p:nvSpPr>
          <p:cNvPr id="8" name="Rectangle 7"/>
          <p:cNvSpPr/>
          <p:nvPr/>
        </p:nvSpPr>
        <p:spPr>
          <a:xfrm>
            <a:off x="4059935" y="4343400"/>
            <a:ext cx="5951646" cy="292608"/>
          </a:xfrm>
          <a:prstGeom prst="rect">
            <a:avLst/>
          </a:prstGeom>
          <a:solidFill>
            <a:srgbClr val="55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999999"/>
                </a:solidFill>
              </a:defRPr>
            </a:pPr>
            <a:r>
              <a:t>8.14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7302" y="43434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E8E8"/>
                </a:solidFill>
                <a:latin typeface="Calibri"/>
              </a:defRPr>
            </a:pPr>
            <a:r>
              <a:t>9.94 pJ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3A86C8"/>
                </a:solidFill>
                <a:latin typeface="Calibri"/>
              </a:defRPr>
            </a:pPr>
            <a:r>
              <a:t>CPU AVX-512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4709160"/>
            <a:ext cx="1316736" cy="2926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1.80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59935" y="4709160"/>
            <a:ext cx="372343" cy="292608"/>
          </a:xfrm>
          <a:prstGeom prst="rect">
            <a:avLst/>
          </a:prstGeom>
          <a:solidFill>
            <a:srgbClr val="55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999999"/>
                </a:solidFill>
              </a:defRPr>
            </a:pPr>
            <a:r>
              <a:t>0.51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7999" y="4709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E8E8"/>
                </a:solidFill>
                <a:latin typeface="Calibri"/>
              </a:defRPr>
            </a:pPr>
            <a:r>
              <a:t>2.31 pJ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7492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76B900"/>
                </a:solidFill>
                <a:latin typeface="Calibri"/>
              </a:defRPr>
            </a:pPr>
            <a:r>
              <a:t>GPU CUDA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5074920"/>
            <a:ext cx="1119225" cy="2926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1.53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62425" y="5074920"/>
            <a:ext cx="305775" cy="292608"/>
          </a:xfrm>
          <a:prstGeom prst="rect">
            <a:avLst/>
          </a:prstGeom>
          <a:solidFill>
            <a:srgbClr val="55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999999"/>
                </a:solidFill>
              </a:defRPr>
            </a:pPr>
            <a:r>
              <a:t>0.42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13920" y="507492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E8E8"/>
                </a:solidFill>
                <a:latin typeface="Calibri"/>
              </a:defRPr>
            </a:pPr>
            <a:r>
              <a:t>1.95 pJ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4068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76B900"/>
                </a:solidFill>
                <a:latin typeface="Calibri"/>
              </a:defRPr>
            </a:pPr>
            <a:r>
              <a:t>GPU TC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5440680"/>
            <a:ext cx="1119225" cy="2926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1.53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62425" y="5440680"/>
            <a:ext cx="207751" cy="292608"/>
          </a:xfrm>
          <a:prstGeom prst="rect">
            <a:avLst/>
          </a:prstGeom>
          <a:solidFill>
            <a:srgbClr val="55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5897" y="544068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E8E8"/>
                </a:solidFill>
                <a:latin typeface="Calibri"/>
              </a:defRPr>
            </a:pPr>
            <a:r>
              <a:t>1.81 pJ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80644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DD8833"/>
                </a:solidFill>
                <a:latin typeface="Calibri"/>
              </a:defRPr>
            </a:pPr>
            <a:r>
              <a:t>TPU 128x128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5806440"/>
            <a:ext cx="1053388" cy="2926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1.44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6588" y="5806440"/>
            <a:ext cx="467441" cy="292608"/>
          </a:xfrm>
          <a:prstGeom prst="rect">
            <a:avLst/>
          </a:prstGeom>
          <a:solidFill>
            <a:srgbClr val="55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999999"/>
                </a:solidFill>
              </a:defRPr>
            </a:pPr>
            <a:r>
              <a:t>0.64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9750" y="580644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E8E8"/>
                </a:solidFill>
                <a:latin typeface="Calibri"/>
              </a:defRPr>
            </a:pPr>
            <a:r>
              <a:t>2.08 pJ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1722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96D6"/>
                </a:solidFill>
                <a:latin typeface="Calibri"/>
              </a:defRPr>
            </a:pPr>
            <a:r>
              <a:t>KPU 16x16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6172200"/>
            <a:ext cx="662025" cy="2926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0.91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89716" y="61722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E8E8"/>
                </a:solidFill>
                <a:latin typeface="Calibri"/>
              </a:defRPr>
            </a:pPr>
            <a:r>
              <a:t>0.96 pJ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7200" y="6675120"/>
            <a:ext cx="10972800" cy="0"/>
          </a:xfrm>
          <a:prstGeom prst="line">
            <a:avLst/>
          </a:prstGeom>
          <a:ln w="2540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57200" y="6766560"/>
            <a:ext cx="10972800" cy="73152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681228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1100" b="1">
                <a:solidFill>
                  <a:srgbClr val="00B4D8"/>
                </a:solidFill>
                <a:latin typeface="Calibri"/>
              </a:defRPr>
            </a:pPr>
            <a:r>
              <a:t>Core Compute Takeaway (all at 7nm, no memory):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The MAC energy itself is comparable: 0.9-1.8 pJ across all architectures (2x range).</a:t>
            </a:r>
          </a:p>
          <a:p>
            <a:pPr algn="l">
              <a:spcAft>
                <a:spcPts val="439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overhead varies 150x (0.053 to 8.136 pJ). CPU scalar is worst; KPU is best.</a:t>
            </a:r>
          </a:p>
          <a:p>
            <a:pPr algn="l">
              <a:spcAft>
                <a:spcPts val="439"/>
              </a:spcAft>
              <a:defRPr sz="1100" b="1">
                <a:solidFill>
                  <a:srgbClr val="0096D6"/>
                </a:solidFill>
                <a:latin typeface="Calibri"/>
              </a:defRPr>
            </a:pPr>
            <a:r>
              <a:t>KPU achieves 94% compute efficiency vs GPU TensorCore's 84% -- a 1.9x total energy advantage at same node.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FF8C00"/>
                </a:solidFill>
                <a:latin typeface="Calibri"/>
              </a:defRPr>
            </a:pPr>
            <a:r>
              <a:t>The 20x argument requires adding memory hierarchy (domain 2) and system I/O (domain 3) advantages.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