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Energy Problem in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Calibri"/>
              </a:defRPr>
            </a:pPr>
            <a:r>
              <a:t>Understanding Where Energy Goes in a CPU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2468880"/>
            <a:ext cx="73152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2926080"/>
            <a:ext cx="7315200" cy="10972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301752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Key Insight:</a:t>
            </a:r>
          </a:p>
          <a:p>
            <a:pPr algn="ctr">
              <a:spcAft>
                <a:spcPts val="639"/>
              </a:spcAft>
              <a:defRPr sz="1600" b="0">
                <a:solidFill>
                  <a:srgbClr val="E8E8E8"/>
                </a:solidFill>
                <a:latin typeface="Calibri"/>
              </a:defRPr>
            </a:pPr>
            <a:r>
              <a:t>The ALU -- where useful computation happens -- consumes only</a:t>
            </a:r>
          </a:p>
          <a:p>
            <a:pPr algn="ctr">
              <a:spcAft>
                <a:spcPts val="63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~20% of total operation energy. The other 80% is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2560320" cy="50292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Instruction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5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Fetch + Decode</a:t>
            </a:r>
            <a:br/>
            <a:r>
              <a:t>~40% of energy</a:t>
            </a:r>
            <a:br/>
            <a:r>
              <a:t>~66% of transistors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389120"/>
            <a:ext cx="2560320" cy="5029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Data 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93775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Register File + Caches</a:t>
            </a:r>
            <a:br/>
            <a:r>
              <a:t>~30% of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389120"/>
            <a:ext cx="256032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Useful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93775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Calibri"/>
              </a:defRPr>
            </a:pPr>
            <a:r>
              <a:t>ALU / FPU</a:t>
            </a:r>
            <a:br/>
            <a:r>
              <a:t>~20% of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Source: Horowitz, ISSCC 2014 -- scaled to modern process nodes (4-7nm)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5-Stage CPU Pipeline: A Stored-Program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  <a:latin typeface="Calibri"/>
              </a:defRPr>
            </a:pPr>
            <a:r>
              <a:t>Random Access Memory Stored Program Machine (Von Neumann Architecture)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463040"/>
            <a:ext cx="1463040" cy="68580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IF</a:t>
            </a:r>
            <a:br/>
            <a:r>
              <a:t>Instruction</a:t>
            </a:r>
            <a:br/>
            <a:r>
              <a:t>Fetch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70048" y="1714500"/>
            <a:ext cx="237744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63239" y="1463040"/>
            <a:ext cx="1463040" cy="685800"/>
          </a:xfrm>
          <a:prstGeom prst="roundRect">
            <a:avLst/>
          </a:prstGeom>
          <a:solidFill>
            <a:srgbClr val="5E6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ID</a:t>
            </a:r>
            <a:br/>
            <a:r>
              <a:t>Instruction</a:t>
            </a:r>
            <a:br/>
            <a:r>
              <a:t>Decode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4567" y="1714500"/>
            <a:ext cx="237744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59" y="1463040"/>
            <a:ext cx="1463040" cy="6858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EX</a:t>
            </a:r>
            <a:br/>
            <a:r>
              <a:t>Execute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19088" y="1714500"/>
            <a:ext cx="237744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12279" y="1463040"/>
            <a:ext cx="1463040" cy="685800"/>
          </a:xfrm>
          <a:prstGeom prst="round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MEM</a:t>
            </a:r>
            <a:br/>
            <a:r>
              <a:t>Memory</a:t>
            </a:r>
            <a:br/>
            <a:r>
              <a:t>Access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293607" y="1714500"/>
            <a:ext cx="237744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0" y="1463040"/>
            <a:ext cx="1463040" cy="68580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WB</a:t>
            </a:r>
            <a:br/>
            <a:r>
              <a:t>Write</a:t>
            </a:r>
            <a:br/>
            <a:r>
              <a:t>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560320"/>
            <a:ext cx="1645920" cy="502920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L1 I-Cache</a:t>
            </a:r>
            <a:br/>
            <a:r>
              <a:t>(32-64 KB)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828800" y="2240279"/>
            <a:ext cx="182880" cy="320040"/>
          </a:xfrm>
          <a:prstGeom prst="downArrow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560320"/>
            <a:ext cx="2194560" cy="502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Register File (RF)</a:t>
            </a:r>
            <a:br/>
            <a:r>
              <a:t>128-256 entries x 64-bit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709159" y="2148840"/>
            <a:ext cx="960120" cy="411480"/>
          </a:xfrm>
          <a:prstGeom prst="line">
            <a:avLst/>
          </a:prstGeom>
          <a:ln w="19050">
            <a:solidFill>
              <a:srgbClr val="6C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74920" y="3337560"/>
            <a:ext cx="11887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ALU / FPU / SIMD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79" y="2148840"/>
            <a:ext cx="1" cy="118872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20840" y="2560320"/>
            <a:ext cx="1645920" cy="502920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L1 D-Cache</a:t>
            </a:r>
            <a:br/>
            <a:r>
              <a:t>(32-64 KB)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43800" y="2148840"/>
            <a:ext cx="0" cy="411480"/>
          </a:xfrm>
          <a:prstGeom prst="line">
            <a:avLst/>
          </a:prstGeom>
          <a:ln w="19050">
            <a:solidFill>
              <a:srgbClr val="487D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257800" y="2148840"/>
            <a:ext cx="4160520" cy="914399"/>
          </a:xfrm>
          <a:prstGeom prst="line">
            <a:avLst/>
          </a:prstGeom>
          <a:ln w="19050">
            <a:solidFill>
              <a:srgbClr val="E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03520" y="3337560"/>
            <a:ext cx="1463040" cy="502920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L2 Cache</a:t>
            </a:r>
            <a:br/>
            <a:r>
              <a:t>(256 KB - 1 MB)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977639"/>
            <a:ext cx="1463040" cy="502920"/>
          </a:xfrm>
          <a:prstGeom prst="rect">
            <a:avLst/>
          </a:prstGeom>
          <a:solidFill>
            <a:srgbClr val="38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L3 / LLC</a:t>
            </a:r>
            <a:br/>
            <a:r>
              <a:t>(8 - 32 MB)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35040" y="3840479"/>
            <a:ext cx="0" cy="13716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03520" y="4617720"/>
            <a:ext cx="1463040" cy="502920"/>
          </a:xfrm>
          <a:prstGeom prst="rect">
            <a:avLst/>
          </a:prstGeom>
          <a:solidFill>
            <a:srgbClr val="285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DRAM</a:t>
            </a:r>
            <a:br/>
            <a:r>
              <a:t>(DDR5 / LPDDR5)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035040" y="4480559"/>
            <a:ext cx="0" cy="137161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035040" y="3063239"/>
            <a:ext cx="1508760" cy="274321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1417320"/>
            <a:ext cx="73152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234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0" y="1417320"/>
            <a:ext cx="73152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Architectural Observations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66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* Every operation requires an instruction fetch + decode cycle (the "instruction tax")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* The register file is accessed on BOTH sides: read before EX, write after EX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* WAR/RAW hazards in writeback add scoreboarding and forwarding energy</a:t>
            </a:r>
          </a:p>
          <a:p>
            <a:pPr algn="l">
              <a:spcAft>
                <a:spcPts val="519"/>
              </a:spcAft>
              <a:defRPr sz="1300" b="1">
                <a:solidFill>
                  <a:srgbClr val="FF8C00"/>
                </a:solidFill>
                <a:latin typeface="Calibri"/>
              </a:defRPr>
            </a:pPr>
            <a:r>
              <a:t>  * ~66% of all transistors serve the frontend (fetch, decode, branch prediction, rename)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Execute Stage Energy: The Useful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1828800" cy="6400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Register File</a:t>
            </a:r>
            <a:br/>
            <a:r>
              <a:t>READ (2 operands)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46120" y="1325880"/>
            <a:ext cx="365760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49039" y="1097280"/>
            <a:ext cx="18288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ALU / FPU</a:t>
            </a:r>
            <a:br/>
            <a:r>
              <a:t>FMA Operation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23560" y="1325880"/>
            <a:ext cx="365760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1828800" cy="64008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Register File</a:t>
            </a:r>
            <a:br/>
            <a:r>
              <a:t>WRITE (result)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Energy Equation for the Execute Stage: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E_execute = 2 x E_rf_read  +  E_alu  +  E_rf_write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Typical Energy Values by Process Technology (pJ per 32-bit FP32 FMA)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926080"/>
          <a:ext cx="10424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  <a:gridCol w="173736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Process Node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RF Read (x2)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ALU (FMA)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RF Write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E_execute Total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ALU % of Total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28nm (IoT)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x 1.8 = 3.6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9.6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16nm (Auto)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x 1.2 = 2.4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2.7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6.4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7nm (Datacenter)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x 0.8 = 1.6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4.3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5nm (Mobile SoC)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x 0.6 = 1.2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3.4 pJ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4nm (GPU/AI)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 x 0.5 = 1.0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2.9 pJ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14400" y="5120640"/>
            <a:ext cx="10058400" cy="82296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59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1">
                <a:solidFill>
                  <a:srgbClr val="FF8C00"/>
                </a:solidFill>
                <a:latin typeface="Calibri"/>
              </a:defRPr>
            </a:pPr>
            <a:r>
              <a:t>Takeaway: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Even in the execute stage alone, the ALU is less than half the energy.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Register file access (read 2 operands + write 1 result) costs more than the computation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Values derived from Horowitz ISSCC 2014, scaled by TSMC process node capacitance ratios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Frontend Energy: The Hidden Dominant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645920" cy="59436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L1 I-Cache</a:t>
            </a:r>
            <a:br/>
            <a:r>
              <a:t>Read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23160" y="1252728"/>
            <a:ext cx="320040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640" y="1051560"/>
            <a:ext cx="1645920" cy="594360"/>
          </a:xfrm>
          <a:prstGeom prst="roundRect">
            <a:avLst/>
          </a:prstGeom>
          <a:solidFill>
            <a:srgbClr val="5E6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Instruction</a:t>
            </a:r>
            <a:br/>
            <a:r>
              <a:t>Decode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26280" y="1252728"/>
            <a:ext cx="320040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051560"/>
            <a:ext cx="1645920" cy="594360"/>
          </a:xfrm>
          <a:prstGeom prst="roundRect">
            <a:avLst/>
          </a:prstGeom>
          <a:solidFill>
            <a:srgbClr val="88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Branch</a:t>
            </a:r>
            <a:br/>
            <a:r>
              <a:t>Predict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29400" y="1252728"/>
            <a:ext cx="320040" cy="18288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1051560"/>
            <a:ext cx="1645920" cy="594360"/>
          </a:xfrm>
          <a:prstGeom prst="roundRect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Register</a:t>
            </a:r>
            <a:br/>
            <a:r>
              <a:t>Rename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--- FRONTEND (instruction overhead, paid for EVERY operation) 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Frontend Energy Equation: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E_frontend = E_icache_read  +  E_decode  +  E_branch_predict  +  E_rename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 vs Execute Energy Comparison (per scalar FP32 operation, 7nm)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371600" y="2926080"/>
          <a:ext cx="9144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Energy (pJ)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L1 I-Cache Read (32B line)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Instruction Decode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Branch Prediction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Register Rename / Scoreboard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8C00"/>
                          </a:solidFill>
                        </a:defRPr>
                      </a:pPr>
                      <a:r>
                        <a:t>Frontend Subtotal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8C00"/>
                          </a:solidFill>
                        </a:defRPr>
                      </a:pPr>
                      <a:r>
                        <a:t>9.5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8C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8C0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Execute Stage (from Slide 3)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CC71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Pipeline/Clock/Wire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Transistor Budget Allocation (typical OoO CPU):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852160"/>
            <a:ext cx="603504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Frontend: 66%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5852160"/>
            <a:ext cx="18288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Backend: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5852160"/>
            <a:ext cx="1280160" cy="411480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Caches: 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9"/>
              </a:spcAft>
              <a:defRPr sz="1400" b="1">
                <a:solidFill>
                  <a:srgbClr val="FF8C00"/>
                </a:solidFill>
                <a:latin typeface="Calibri"/>
              </a:defRPr>
            </a:pPr>
            <a:r>
              <a:t>The CPU spends 2/3 of its energy and transistors on figuring out WHAT to compute, not computing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Total CPU Energy per Operation: The Full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Complete Energy Equation: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E_total = E_frontend + E_execute + E_memory + E_static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onsolas"/>
              </a:defRPr>
            </a:pPr>
            <a:r>
              <a:t>= (I-cache + Decode + Branch + Rename) + (2*RF_read + ALU + RF_write) + (Cache hierarchy) + (Leakage)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Energy Breakdown per Scalar FP32 Operation at 7nm (pJ):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651760"/>
            <a:ext cx="3047999" cy="54864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I-cache: 5.0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9600" y="2651760"/>
            <a:ext cx="1219200" cy="548640"/>
          </a:xfrm>
          <a:prstGeom prst="rect">
            <a:avLst/>
          </a:prstGeom>
          <a:solidFill>
            <a:srgbClr val="5E6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Decode: 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38799" y="2651760"/>
            <a:ext cx="914400" cy="548640"/>
          </a:xfrm>
          <a:prstGeom prst="rect">
            <a:avLst/>
          </a:prstGeom>
          <a:solidFill>
            <a:srgbClr val="88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Branch: 1.5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3199" y="2651760"/>
            <a:ext cx="609600" cy="548640"/>
          </a:xfrm>
          <a:prstGeom prst="rect">
            <a:avLst/>
          </a:prstGeom>
          <a:solidFill>
            <a:srgbClr val="44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Rename: 1.0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2800" y="2651760"/>
            <a:ext cx="975360" cy="5486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RF Read: 1.6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651760"/>
            <a:ext cx="109728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ALU: 1.8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651760"/>
            <a:ext cx="548640" cy="54864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RF Write: 0.9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651760"/>
            <a:ext cx="731520" cy="5486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Wire: 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8688"/>
            <a:ext cx="579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Calibri"/>
              </a:defRPr>
            </a:pPr>
            <a:r>
              <a:t>Frontend: 9.5 pJ (63%)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00" y="3218688"/>
            <a:ext cx="262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Execute: 4.3 pJ (29%)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3657600"/>
            <a:ext cx="100584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The Architectural Question: What If We Eliminate the Frontend?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20"/>
            <a:ext cx="3200400" cy="457200"/>
          </a:xfrm>
          <a:prstGeom prst="round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CPU (Stored Program)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E04040"/>
                </a:solidFill>
                <a:latin typeface="Calibri"/>
              </a:defRPr>
            </a:pPr>
            <a:r>
              <a:t>~15 pJ / scalar FP32 op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Frontend: 9.5 pJ (63%)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Execute: 4.3 pJ (29%)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Overhead: 1.2 pJ (8%)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Every op pays full instruction tax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389120"/>
            <a:ext cx="3200400" cy="457200"/>
          </a:xfrm>
          <a:prstGeom prst="round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GPU (SIMT Parallel)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892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~1.65 pJ / FMA (TensorCore)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SIMT amortizes fetch over 32 threads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But adds coherence + scheduling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Operand collector still ~1.5x ALU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Still a stored-program machine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389120"/>
            <a:ext cx="32004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KPU (Domain Flow)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92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Target: &lt;0.1 pJ / MAC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NO instruction fetch/decode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Data-driven token execution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Operands arrive at PE, not fetched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Eliminates the 63% frontend tax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6400800"/>
            <a:ext cx="914400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Eliminating the instruction frontend is the key to achieving 10-20x energy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