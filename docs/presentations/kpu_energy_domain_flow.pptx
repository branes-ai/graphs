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KPU Domain Flow Architecture: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6D6"/>
                </a:solidFill>
                <a:latin typeface="Calibri"/>
              </a:defRPr>
            </a:pPr>
            <a:r>
              <a:t>Eliminating the Stored-Program Tax Entirely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920240"/>
            <a:ext cx="7315200" cy="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2194560"/>
            <a:ext cx="9144000" cy="146304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8595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9"/>
              </a:spcAft>
              <a:defRPr sz="1400" b="1">
                <a:solidFill>
                  <a:srgbClr val="FF8C00"/>
                </a:solidFill>
                <a:latin typeface="Calibri"/>
              </a:defRPr>
            </a:pPr>
            <a:r>
              <a:t>The Stored-Program Problem:</a:t>
            </a:r>
          </a:p>
          <a:p>
            <a:pPr algn="ctr">
              <a:spcAft>
                <a:spcPts val="559"/>
              </a:spcAft>
              <a:defRPr sz="1400" b="0">
                <a:solidFill>
                  <a:srgbClr val="E8E8E8"/>
                </a:solidFill>
                <a:latin typeface="Calibri"/>
              </a:defRPr>
            </a:pPr>
            <a:r>
              <a:t>CPU: Pays instruction tax on EVERY operation (fetch, decode, rename)</a:t>
            </a:r>
          </a:p>
          <a:p>
            <a:pPr algn="ctr">
              <a:spcAft>
                <a:spcPts val="559"/>
              </a:spcAft>
              <a:defRPr sz="1400" b="0">
                <a:solidFill>
                  <a:srgbClr val="E8E8E8"/>
                </a:solidFill>
                <a:latin typeface="Calibri"/>
              </a:defRPr>
            </a:pPr>
            <a:r>
              <a:t>GPU: Amortizes instructions across 32 threads, but pays data movement tax</a:t>
            </a:r>
          </a:p>
          <a:p>
            <a:pPr algn="ctr">
              <a:spcAft>
                <a:spcPts val="559"/>
              </a:spcAft>
              <a:defRPr sz="1400" b="0">
                <a:solidFill>
                  <a:srgbClr val="E8E8E8"/>
                </a:solidFill>
                <a:latin typeface="Calibri"/>
              </a:defRPr>
            </a:pPr>
            <a:r>
              <a:t>      (64K registers, banked SRAM, operand collectors, crossbar routing)</a:t>
            </a:r>
          </a:p>
          <a:p>
            <a:pPr algn="ctr">
              <a:spcAft>
                <a:spcPts val="559"/>
              </a:spcAft>
              <a:defRPr sz="1400" b="0">
                <a:solidFill>
                  <a:srgbClr val="E8E8E8"/>
                </a:solidFill>
                <a:latin typeface="Calibri"/>
              </a:defRPr>
            </a:pPr>
          </a:p>
          <a:p>
            <a:pPr algn="ctr">
              <a:spcAft>
                <a:spcPts val="559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The KPU Solution:</a:t>
            </a:r>
          </a:p>
          <a:p>
            <a:pPr algn="ctr">
              <a:spcAft>
                <a:spcPts val="559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Eliminate BOTH taxes. No instruction fetch. No register file. No operand collectors.</a:t>
            </a:r>
          </a:p>
          <a:p>
            <a:pPr algn="ctr">
              <a:spcAft>
                <a:spcPts val="559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Operands ARRIVE at the PE via compile-time-configured wire connections.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2926080" cy="41148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 Instruction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I-cache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instruction decode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38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branch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9437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register rename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CPU: 9.5 pJ saved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023360"/>
            <a:ext cx="2926080" cy="411480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 Register File Infra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5262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64K banked SRAM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7823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operand collectors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038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bank arbitration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29437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crossbar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623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GPU: ~3 pJ/warp saved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023360"/>
            <a:ext cx="292608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 Request/Reply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5262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scoreboard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7823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address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038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No result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29437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Compile-time 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623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Both: 0 per-op overhead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6172200"/>
            <a:ext cx="822960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D6"/>
                </a:solidFill>
                <a:latin typeface="Calibri"/>
              </a:defRPr>
            </a:pPr>
            <a:r>
              <a:t>Result: ~0.12 pJ per BF16 MAC vs GPU's ~1.65 pJ = 14x energy advantage per operation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KPU Architecture: Programmable Spatial Dataflow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64 tiles x 256 PEs = 16,384 MACs/cycle -- executing Systems of Uniform Recurrence Equations (SURE)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B0D0"/>
                </a:solidFill>
                <a:latin typeface="Calibri"/>
              </a:defRPr>
            </a:pPr>
            <a:r>
              <a:t>Compute Fabric: 64 Programmable Tiles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" y="1097280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7088" y="1097280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542032" y="1097280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976" y="1097280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097280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1097280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63624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144" y="1563624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7088" y="1563624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42032" y="1563624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6" y="1563624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563624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6864" y="1563624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21808" y="1563624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029967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52144" y="2029967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47088" y="2029967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42032" y="2029967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6976" y="2029967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029967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6864" y="2029967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1808" y="2029967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96312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2144" y="2496312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47088" y="2496312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2032" y="2496312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6976" y="2496312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496312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26864" y="2496312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21808" y="2496312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962656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52144" y="2962656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47088" y="2962656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42032" y="2962656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36976" y="2962656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2962656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962656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21808" y="2962656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29000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52144" y="3429000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47088" y="3429000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42032" y="3429000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36976" y="3429000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3429000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26864" y="3429000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21808" y="3429000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895344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52144" y="3895344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47088" y="3895344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42032" y="3895344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36976" y="3895344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3895344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26864" y="3895344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21808" y="3895344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361688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52144" y="4361688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47088" y="4361688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42032" y="4361688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36976" y="4361688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1920" y="4361688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26864" y="4361688"/>
            <a:ext cx="640080" cy="411480"/>
          </a:xfrm>
          <a:prstGeom prst="rect">
            <a:avLst/>
          </a:prstGeom>
          <a:solidFill>
            <a:srgbClr val="2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21808" y="4361688"/>
            <a:ext cx="640080" cy="41148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16x16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Each tile: 16x16 PE array = 256 MACs/cycle | Programmable via SURE domain program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508406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C88"/>
                </a:solidFill>
                <a:latin typeface="Calibri"/>
              </a:defRPr>
            </a:pPr>
            <a:r>
              <a:t>PE-to-PE connections: compile-time configured, wire-only transfer (~0.05 pJ)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868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88BB"/>
                </a:solidFill>
                <a:latin typeface="Calibri"/>
              </a:defRPr>
            </a:pPr>
            <a:r>
              <a:t>EDDO Memory Hierarchy (Software-Managed)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83680" y="1097280"/>
            <a:ext cx="5029200" cy="502920"/>
          </a:xfrm>
          <a:prstGeom prst="round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DRAM (HBM2e / LPDDR5)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14173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Calibri"/>
              </a:defRPr>
            </a:pPr>
            <a:r>
              <a:t>Off-chip | 10 pJ/byte | System bandwidth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9006840" y="1581912"/>
            <a:ext cx="182880" cy="54864"/>
          </a:xfrm>
          <a:prstGeom prst="downArrow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583680" y="1655064"/>
            <a:ext cx="5029200" cy="365760"/>
          </a:xfrm>
          <a:prstGeom prst="roundRect">
            <a:avLst/>
          </a:prstGeom>
          <a:solidFill>
            <a:srgbClr val="55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DMA Engine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75120" y="1837943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Calibri"/>
              </a:defRPr>
            </a:pPr>
            <a:r>
              <a:t>Bulk transfer | Double-buffered | 5 pJ setup/4KB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83680" y="2075688"/>
            <a:ext cx="5029200" cy="502920"/>
          </a:xfrm>
          <a:prstGeom prst="roundRect">
            <a:avLst/>
          </a:prstGeom>
          <a:solidFill>
            <a:srgbClr val="285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L3 Global Scratchpad (1-8 MB)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239572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Calibri"/>
              </a:defRPr>
            </a:pPr>
            <a:r>
              <a:t>Distributed tiles | No tags | 2 pJ/byte | Compiler-managed</a:t>
            </a:r>
          </a:p>
        </p:txBody>
      </p:sp>
      <p:sp>
        <p:nvSpPr>
          <p:cNvPr id="79" name="Down Arrow 78"/>
          <p:cNvSpPr/>
          <p:nvPr/>
        </p:nvSpPr>
        <p:spPr>
          <a:xfrm>
            <a:off x="9006840" y="2560320"/>
            <a:ext cx="182880" cy="54864"/>
          </a:xfrm>
          <a:prstGeom prst="downArrow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83680" y="2633472"/>
            <a:ext cx="5029200" cy="365760"/>
          </a:xfrm>
          <a:prstGeom prst="roundRect">
            <a:avLst/>
          </a:prstGeom>
          <a:solidFill>
            <a:srgbClr val="55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BlockMover Engine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5120" y="2816351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Calibri"/>
              </a:defRPr>
            </a:pPr>
            <a:r>
              <a:t>L3 -&gt; L2 block transfer | 0.8 pJ/byte routing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0" y="3054096"/>
            <a:ext cx="5029200" cy="502920"/>
          </a:xfrm>
          <a:prstGeom prst="roundRect">
            <a:avLst/>
          </a:prstGeom>
          <a:solidFill>
            <a:srgbClr val="33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L2 Tile Staging (16-64 KB/tile)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5120" y="3374135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Calibri"/>
              </a:defRPr>
            </a:pPr>
            <a:r>
              <a:t>Per-tile local | No coherence | 0.8 pJ/byte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9006840" y="3538728"/>
            <a:ext cx="182880" cy="54864"/>
          </a:xfrm>
          <a:prstGeom prst="downArrow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583680" y="3611880"/>
            <a:ext cx="5029200" cy="365760"/>
          </a:xfrm>
          <a:prstGeom prst="roundRect">
            <a:avLst/>
          </a:prstGeom>
          <a:solidFill>
            <a:srgbClr val="55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Streamer Engine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75120" y="37947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Calibri"/>
              </a:defRPr>
            </a:pPr>
            <a:r>
              <a:t>Vector -&gt; token stream | Token formation: 0.5 pJ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583680" y="4032504"/>
            <a:ext cx="5029200" cy="411480"/>
          </a:xfrm>
          <a:prstGeom prst="roundRect">
            <a:avLst/>
          </a:prstGeom>
          <a:solidFill>
            <a:srgbClr val="3A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L1 Stream Buffers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5120" y="426110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Calibri"/>
              </a:defRPr>
            </a:pPr>
            <a:r>
              <a:t>Immediate fabric access | 0.3 pJ/byte</a:t>
            </a:r>
          </a:p>
        </p:txBody>
      </p:sp>
      <p:sp>
        <p:nvSpPr>
          <p:cNvPr id="89" name="Down Arrow 88"/>
          <p:cNvSpPr/>
          <p:nvPr/>
        </p:nvSpPr>
        <p:spPr>
          <a:xfrm>
            <a:off x="9006840" y="4425696"/>
            <a:ext cx="182880" cy="54864"/>
          </a:xfrm>
          <a:prstGeom prst="downArrow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0" y="4544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C88"/>
                </a:solidFill>
                <a:latin typeface="Calibri"/>
              </a:defRPr>
            </a:pPr>
            <a:r>
              <a:t>&lt;-- feeds into --&gt; Compute Fabric (SURE Network)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57200" y="5303520"/>
            <a:ext cx="10972800" cy="0"/>
          </a:xfrm>
          <a:prstGeom prst="line">
            <a:avLst/>
          </a:prstGeom>
          <a:ln w="1905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57200" y="539495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EDDO vs Hardware Caches: Why Software-Managed Memory Saves Energy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5715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FF8C00"/>
                </a:solidFill>
                <a:latin typeface="Calibri"/>
              </a:defRPr>
            </a:pPr>
            <a:r>
              <a:t>Hardware Cache (GPU/CPU):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Tag lookup on every access (~0.5 pJ)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Coherence protocol (GPU: ~5 pJ/request)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Reactive: fetch on miss, evict on full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Hardware decides placement at runtime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43600" y="5715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EDDO Scratchpad (KPU):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Direct addressing, no tag lookup (0 pJ)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No coherence protocol needed (0 pJ)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Proactive: compiler pre-stages ALL data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~50-60% energy of equivalent cache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SURE Network: Operands Arrive, Not Fetched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Systems of Uniform Recurrence Equations define compile-time data routing between 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GPU: Request/Reply Cycle (per warp instruction)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108960" cy="301752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1. Scoreboard 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3385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4040"/>
                </a:solidFill>
                <a:latin typeface="Calibri"/>
              </a:defRPr>
            </a:pPr>
            <a:r>
              <a:t>0.30 pJ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35607"/>
            <a:ext cx="3108960" cy="301752"/>
          </a:xfrm>
          <a:prstGeom prst="round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2. Register Addr Gen (x3)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7218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4040"/>
                </a:solidFill>
                <a:latin typeface="Calibri"/>
              </a:defRPr>
            </a:pPr>
            <a:r>
              <a:t>0.60 pJ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73936"/>
            <a:ext cx="3108960" cy="301752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3. Bank Arbitration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4040"/>
                </a:solidFill>
                <a:latin typeface="Calibri"/>
              </a:defRPr>
            </a:pPr>
            <a:r>
              <a:t>0.30 pJ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12263"/>
            <a:ext cx="3108960" cy="301752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4. SRAM Read (32 banks)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39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4040"/>
                </a:solidFill>
                <a:latin typeface="Calibri"/>
              </a:defRPr>
            </a:pPr>
            <a:r>
              <a:t>0.50 pJ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50591"/>
            <a:ext cx="3108960" cy="301752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5. Operand Collector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871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4040"/>
                </a:solidFill>
                <a:latin typeface="Calibri"/>
              </a:defRPr>
            </a:pPr>
            <a:r>
              <a:t>0.80 pJ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88920"/>
            <a:ext cx="3108960" cy="301752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6. Crossbar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2549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4040"/>
                </a:solidFill>
                <a:latin typeface="Calibri"/>
              </a:defRPr>
            </a:pPr>
            <a:r>
              <a:t>0.40 pJ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27248"/>
            <a:ext cx="3108960" cy="30175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7. ALU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6382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alibri"/>
              </a:defRPr>
            </a:pPr>
            <a:r>
              <a:t>0.70 pJ/op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65576"/>
            <a:ext cx="3108960" cy="301752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8. Result Route + 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0215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4040"/>
                </a:solidFill>
                <a:latin typeface="Calibri"/>
              </a:defRPr>
            </a:pPr>
            <a:r>
              <a:t>0.80 pJ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962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Total overhead per warp: 3.7 pJ  |  Per MAC: ~0.12 pJ overhead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9144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KPU: Spatial Dataflow (per operation)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097280"/>
            <a:ext cx="3474720" cy="502920"/>
          </a:xfrm>
          <a:prstGeom prst="round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1. Operand arrives from</a:t>
            </a:r>
            <a:br/>
            <a:r>
              <a:t>   neighbor PE (wire 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207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0.05 pJ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34747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ALU Execute (domain</a:t>
            </a:r>
            <a:br/>
            <a:r>
              <a:t>   flow MAC, no fetch)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847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0.54 pJ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377440"/>
            <a:ext cx="3474720" cy="502920"/>
          </a:xfrm>
          <a:prstGeom prst="round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Result to local register</a:t>
            </a:r>
            <a:br/>
            <a:r>
              <a:t>   (next PE's input, no arb)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0.02 pJ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06323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Calibri"/>
              </a:defRPr>
            </a:pPr>
            <a:r>
              <a:t>Total per MAC: ~0.12 pJ overhead  |  0.61 pJ total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428999"/>
            <a:ext cx="5029200" cy="146304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474719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0096D6"/>
                </a:solidFill>
                <a:latin typeface="Calibri"/>
              </a:defRPr>
            </a:pPr>
            <a:r>
              <a:t>What the SURE network eliminates: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Scoreboard -- no hazards (compile-time schedule)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Address generation -- no register addresses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Bank arbitration -- no shared register file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Operand collector -- no variable latency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Crossbar routing -- direct PE-to-PE wires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x  Result routing -- local register, no arbitration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5394960"/>
            <a:ext cx="10972800" cy="0"/>
          </a:xfrm>
          <a:prstGeom prst="line">
            <a:avLst/>
          </a:prstGeom>
          <a:ln w="1905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5486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Calibri"/>
              </a:defRPr>
            </a:pPr>
            <a:r>
              <a:t>The Physics: Why Wire Transfer is 50x Cheaper than Register File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06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PE-to-PE wire:  ~0.05 pJ  (0.1mm wire + 1 latch = C*V^2 for ~10fF capacitance)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04040"/>
                </a:solidFill>
                <a:latin typeface="Calibri"/>
              </a:defRPr>
            </a:pPr>
            <a:r>
              <a:t>GPU register:   ~2.5 pJ   (8KB SRAM bank + address decode + sense amplifier + bank arbitration + crossbar)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</a:p>
          <a:p>
            <a:pPr algn="l">
              <a:spcAft>
                <a:spcPts val="47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 wire is 50x cheaper because it is 100x shorter and has no address decode, no sense amplifier,</a:t>
            </a:r>
          </a:p>
          <a:p>
            <a:pPr algn="l">
              <a:spcAft>
                <a:spcPts val="47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 arbitration, no tag comparison. This is not a design choice -- it is physics (Horowitz, ISSCC 2014).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KPU Energy Equation: Per-MAC Cost at BF16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Energy per KPU Domain Flow MAC: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326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E_mac  =  E_pe_transfer  +  E_alu  +  E_local_write  +  E_config_amortized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C88"/>
                </a:solidFill>
                <a:latin typeface="Calibri"/>
              </a:defRPr>
            </a:pPr>
            <a:r>
              <a:t>Wire only (0.05 pJ)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Domain flow (0.54 pJ)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280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AB0D0"/>
                </a:solidFill>
                <a:latin typeface="Calibri"/>
              </a:defRPr>
            </a:pPr>
            <a:r>
              <a:t>Local reg (0.02 pJ)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280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66DD"/>
                </a:solidFill>
                <a:latin typeface="Calibri"/>
              </a:defRPr>
            </a:pPr>
            <a:r>
              <a:t>~0 (once/layer)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Numerical Evaluation: KPU-T768 at 7nm (Automotive-class)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Per-Op Energy (pJ)</a:t>
                      </a:r>
                    </a:p>
                  </a:txBody>
                  <a:tcPr>
                    <a:solidFill>
                      <a:srgbClr val="00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Equivalent</a:t>
                      </a:r>
                    </a:p>
                  </a:txBody>
                  <a:tcPr>
                    <a:solidFill>
                      <a:srgbClr val="005F8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PE-to-PE Transfer (x2 operands)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0.044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Data Movement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3.9%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99999"/>
                          </a:solidFill>
                        </a:defRPr>
                      </a:pPr>
                      <a:r>
                        <a:t>Scoreboard+Addr+Arb+Collector+Xbar: 2.9 pJ/warp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ECC71"/>
                          </a:solidFill>
                        </a:defRPr>
                      </a:pPr>
                      <a:r>
                        <a:t>Domain Flow MAC (BF16)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ECC71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ECC71"/>
                          </a:solidFill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95.3%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ECC71"/>
                          </a:solidFill>
                        </a:defRPr>
                      </a:pPr>
                      <a:r>
                        <a:t>TensorCore MAC: 0.34 pJ (similar)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Local Register Write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Data Movement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99999"/>
                          </a:solidFill>
                        </a:defRPr>
                      </a:pPr>
                      <a:r>
                        <a:t>Result Route + RF Write: 0.8 pJ/warp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ECC71"/>
                          </a:solidFill>
                        </a:defRPr>
                      </a:pPr>
                      <a:r>
                        <a:t>Accumulator (amortized)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ECC71"/>
                          </a:solidFill>
                        </a:defRPr>
                      </a:pPr>
                      <a:r>
                        <a:t>0.0945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ECC71"/>
                          </a:solidFill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ECC71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Domain Config (amortized)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0.0003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99999"/>
                          </a:solidFill>
                        </a:defRPr>
                      </a:pPr>
                      <a:r>
                        <a:t>Kernel launch: 100K pJ (but 1-time)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99999"/>
                          </a:solidFill>
                        </a:defRPr>
                      </a:pP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96D6"/>
                          </a:solidFill>
                        </a:defRPr>
                      </a:pPr>
                      <a:r>
                        <a:t>TOTAL per BF16 MAC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96D6"/>
                          </a:solidFill>
                        </a:defRPr>
                      </a:pPr>
                      <a:r>
                        <a:t>1.13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96D6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96D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96D6"/>
                          </a:solidFill>
                        </a:defRPr>
                      </a:pPr>
                      <a:r>
                        <a:t>GPU TensorCore: ~1.65 pJ/MAC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  of which: overhead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0.053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Overhead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4.7%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999999"/>
                          </a:solidFill>
                        </a:defRPr>
                      </a:pPr>
                      <a:r>
                        <a:t>GPU overhead: ~0.12 pJ/MAC (amortized/64)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206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Energy per BF16 MAC at 7nm:  1.13 pJ  --  98% is useful compute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480559"/>
            <a:ext cx="391151" cy="457200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Data: 0.053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62751" y="4480559"/>
            <a:ext cx="8750613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Compute: 1.17 pJ (96%)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3364" y="4480559"/>
            <a:ext cx="137160" cy="457200"/>
          </a:xfrm>
          <a:prstGeom prst="rect">
            <a:avLst/>
          </a:prstGeom>
          <a:solidFill>
            <a:srgbClr val="AA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29199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GPU TensorCore for comparison: 1.65 pJ/MAC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257799"/>
            <a:ext cx="875607" cy="320040"/>
          </a:xfrm>
          <a:prstGeom prst="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Per-MAC overhead: 0.16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7207" y="5257799"/>
            <a:ext cx="1884218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ALU: 0.34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1425" y="5257799"/>
            <a:ext cx="6384174" cy="320040"/>
          </a:xfrm>
          <a:prstGeom prst="rect">
            <a:avLst/>
          </a:prstGeom>
          <a:solidFill>
            <a:srgbClr val="8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SM infrastructure (RF, collectors, xbar): 1.15 pJ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60720"/>
            <a:ext cx="10058400" cy="9144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80644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1">
                <a:solidFill>
                  <a:srgbClr val="0096D6"/>
                </a:solidFill>
                <a:latin typeface="Calibri"/>
              </a:defRPr>
            </a:pPr>
            <a:r>
              <a:t>Key Insight: The KPU spends 98% of energy on useful compute.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The GPU spends only 21% on useful compute -- the rest is operand delivery infrastructure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(register file, operand collectors, crossbar, scoreboard) that exists to support thread concurrency.</a:t>
            </a:r>
          </a:p>
          <a:p>
            <a:pPr algn="l">
              <a:spcAft>
                <a:spcPts val="479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The KPU eliminates ALL of this by replacing request/reply with compile-time spatial 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Energy Efficiency Argument: CPU -&gt; GPU -&gt; TPU -&gt; KPU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Each architectural step eliminates a class of overhead -- validated against Horowitz ISSCC 2014 scaling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(Scalar FP32)</a:t>
                      </a:r>
                    </a:p>
                  </a:txBody>
                  <a:tcPr>
                    <a:solidFill>
                      <a:srgbClr val="3A8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CUDA Core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TensorCore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TPU (Systolic)</a:t>
                      </a:r>
                    </a:p>
                  </a:txBody>
                  <a:tcPr>
                    <a:solidFill>
                      <a:srgbClr val="DD8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KPU (Domain Flow)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Process Node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7nm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4nm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4nm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7nm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96D6"/>
                          </a:solidFill>
                        </a:defRPr>
                      </a:pPr>
                      <a:r>
                        <a:t>7nm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Instruction Frontend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9.5 pJ (63%)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0.025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0.013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~0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96D6"/>
                          </a:solidFill>
                        </a:defRPr>
                      </a:pPr>
                      <a:r>
                        <a:t>~0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Register File / RF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1.6 pJ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256 KB SRAM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256 KB SRAM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PE registers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96D6"/>
                          </a:solidFill>
                        </a:defRPr>
                      </a:pPr>
                      <a:r>
                        <a:t>PE-local (1 reg)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Operand Delivery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RF read: 1.6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Collector+Xbar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Collector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PE forwarding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96D6"/>
                          </a:solidFill>
                        </a:defRPr>
                      </a:pPr>
                      <a:r>
                        <a:t>Wire: 0.05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ALU / MAC Energy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1.8 pJ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1.1 pJ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0.34 pJ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0.14 pJ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96D6"/>
                          </a:solidFill>
                        </a:defRPr>
                      </a:pPr>
                      <a:r>
                        <a:t>1.08 pJ (BF16)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Writeback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0.9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0.025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0.010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PE-local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96D6"/>
                          </a:solidFill>
                        </a:defRPr>
                      </a:pPr>
                      <a:r>
                        <a:t>0.009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Total per Operation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~15 pJ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~1.24 pJ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~1.65 pJ*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~0.8 pJ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~1.13 pJ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Overhead/ALU Ratio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7.3x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0.12x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0.19x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~0.1x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96D6"/>
                          </a:solidFill>
                        </a:defRPr>
                      </a:pPr>
                      <a:r>
                        <a:t>~0.05x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GPU TensorCore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04040"/>
                          </a:solidFill>
                        </a:defRPr>
                      </a:pPr>
                      <a:r>
                        <a:t>9x worse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0.75x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1.0x (base)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2.1x better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1.5x better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4251960"/>
            <a:ext cx="10972800" cy="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" y="4343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The System-Level 20x Energy Argument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Per-operation ALU energy is similar across architectures (~0.3-1.1 pJ at modern nodes).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20x advantage comes from THREE system-level factors: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1. Operand Delivery (5-10x): GPU pays 2.9 pJ/warp for scoreboard + collector + crossbar + arbitration.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2ECC71"/>
                </a:solidFill>
                <a:latin typeface="Calibri"/>
              </a:defRPr>
            </a:pPr>
            <a:r>
              <a:t>     KPU pays 0.05 pJ wire transfer. At the SM level, this infrastructure draws continuous power.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2. Memory Hierarchy (2-3x): GPU uses hardware caches with tag lookup + coherence protocol.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2ECC71"/>
                </a:solidFill>
                <a:latin typeface="Calibri"/>
              </a:defRPr>
            </a:pPr>
            <a:r>
              <a:t>     KPU uses EDDO scratchpads (no tags, no coherence) at 50-60% of cache energy.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3. Utilization (2-4x): GPU SM infrastructure (64K RF, 4 collectors) is always powered.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2ECC71"/>
                </a:solidFill>
                <a:latin typeface="Calibri"/>
              </a:defRPr>
            </a:pPr>
            <a:r>
              <a:t>     KPU tiles power-gate independently. Batch=1 utilization: KPU ~95% vs GPU ~30%.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0096D6"/>
                </a:solidFill>
                <a:latin typeface="Calibri"/>
              </a:defRPr>
            </a:pPr>
            <a:r>
              <a:t>  Combined: 5-10x (operand delivery) x 2-3x (memory) x 2-4x (utilization) = 20-120x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* GPU TensorCore total includes SM-level infrastructure (register file, collectors) amortized across operations.  Source: Horowitz ISSCC 2014 scaled to 4nm/7nm; validated against MLPerf MFU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