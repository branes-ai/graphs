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Memory Technology Energy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LPDDR5  vs  GDDR6  vs  HBM3: Energy per Byte at the System Level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828800"/>
            <a:ext cx="73152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2103120"/>
            <a:ext cx="9144000" cy="11887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Why Memory Technology Dominates the Energy Comparison: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In the validation deck, KPU memory was 57% of total energy (LPDDR5 at 8 pJ/byte)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while GPU memory was 26% (HBM3 at 5.5 pJ/byte). This 45% difference in off-chip</a:t>
            </a:r>
          </a:p>
          <a:p>
            <a:pPr algn="ctr">
              <a:spcAft>
                <a:spcPts val="559"/>
              </a:spcAft>
              <a:defRPr sz="1400" b="0">
                <a:solidFill>
                  <a:srgbClr val="E8E8E8"/>
                </a:solidFill>
                <a:latin typeface="Calibri"/>
              </a:defRPr>
            </a:pPr>
            <a:r>
              <a:t>energy per byte obscures the architectural comparison. To make a fair argument,</a:t>
            </a:r>
          </a:p>
          <a:p>
            <a:pPr algn="ctr">
              <a:spcAft>
                <a:spcPts val="559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 must understand exactly what drives these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47472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LPDDR5 / 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Package-on-Package (PoP)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165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Low-voltage I/O (0.5V)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72583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4 channels x 16-bit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286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6.4-8.5 GT/s per 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846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C623"/>
                </a:solidFill>
                <a:latin typeface="Calibri"/>
              </a:defRPr>
            </a:pPr>
            <a:r>
              <a:t>8.0-7.0 pJ/byte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Target: Edge / Automotive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474720" cy="41148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GDDR6 / 6X /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Discrete chips on PCB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165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High-speed PCB traces (1.35V)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72583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8 chips x 32-bit 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286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16-32 Gbps per pin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846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C623"/>
                </a:solidFill>
                <a:latin typeface="Calibri"/>
              </a:defRPr>
            </a:pPr>
            <a:r>
              <a:t>14.0-18.0 pJ/byte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440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Target: Gaming / Consumer GPU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57600"/>
            <a:ext cx="347472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HBM2 / 3 / 3E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3D TSV stacking on interposer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4165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Ultra-short wires (~100um)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672583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1024-bit bus per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9286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3.2-9.6 Gbps per pin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1846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C623"/>
                </a:solidFill>
                <a:latin typeface="Calibri"/>
              </a:defRPr>
            </a:pPr>
            <a:r>
              <a:t>5.0-7.0 pJ/byte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5440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Target: AI / HPC Datacenter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The energy per byte varies 3.6x across these technologies (5.0 to 18.0 pJ/byte).</a:t>
            </a:r>
            <a:br/>
            <a:r>
              <a:t>This is comparable to the entire architectural energy advantage we are trying to measure.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DRAM Energy Anatomy: The Four Components Every Access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  <a:latin typeface="Calibri"/>
              </a:defRPr>
            </a:pPr>
            <a:r>
              <a:t>Based on Vogelsang (MICRO 2010) and Horowitz (ISSCC 2014) -- all DRAM technologies share this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286000" cy="59436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Row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79" y="914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Open a row in the DRAM array:</a:t>
            </a:r>
            <a:br/>
            <a:r>
              <a:t>- Precharge bitlines to VDD/2</a:t>
            </a:r>
            <a:br/>
            <a:r>
              <a:t>- Assert wordline (select row)</a:t>
            </a:r>
            <a:br/>
            <a:r>
              <a:t>- Sense amplifiers detect charge</a:t>
            </a:r>
            <a:br/>
            <a:r>
              <a:t>- Latch entire row (~8-16 KB)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601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~3-5 pJ/byte</a:t>
            </a:r>
            <a:br/>
            <a:r>
              <a:t>(amortized</a:t>
            </a:r>
            <a:br/>
            <a:r>
              <a:t>over burst)</a:t>
            </a:r>
          </a:p>
        </p:txBody>
      </p:sp>
      <p:sp>
        <p:nvSpPr>
          <p:cNvPr id="7" name="Down Arrow 6"/>
          <p:cNvSpPr/>
          <p:nvPr/>
        </p:nvSpPr>
        <p:spPr>
          <a:xfrm>
            <a:off x="1371600" y="150876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2286000" cy="594360"/>
          </a:xfrm>
          <a:prstGeom prst="roundRect">
            <a:avLst/>
          </a:prstGeom>
          <a:solidFill>
            <a:srgbClr val="DD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Column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Select bytes within the open row:</a:t>
            </a:r>
            <a:br/>
            <a:r>
              <a:t>- Column decoder selects columns</a:t>
            </a:r>
            <a:br/>
            <a:r>
              <a:t>- Mux routes data to I/O gating</a:t>
            </a:r>
            <a:br/>
            <a:r>
              <a:t>- Burst length: 16 (LPDDR5) or</a:t>
            </a:r>
            <a:br/>
            <a:r>
              <a:t>  32 (HBM3) beats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~1-2 pJ/byte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371600" y="219456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2286000"/>
            <a:ext cx="2286000" cy="594360"/>
          </a:xfrm>
          <a:prstGeom prst="round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I/O &amp; Signaling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2860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Drive data off the DRAM die:</a:t>
            </a:r>
            <a:br/>
            <a:r>
              <a:t>- I/O driver charges bus capacitance</a:t>
            </a:r>
            <a:br/>
            <a:r>
              <a:t>- Signal travels to SoC receiver</a:t>
            </a:r>
            <a:br/>
            <a:r>
              <a:t>- Energy = C_bus * V_swing^2 per bit</a:t>
            </a:r>
            <a:br/>
            <a:r>
              <a:t>- Dominant factor: wire length + voltage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~1-10 pJ/byte</a:t>
            </a:r>
            <a:br/>
            <a:r>
              <a:t>(varies with</a:t>
            </a:r>
            <a:br/>
            <a:r>
              <a:t>packaging)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371600" y="288036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2971800"/>
            <a:ext cx="2286000" cy="59436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PHY &amp;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9718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SoC-side memory interface:</a:t>
            </a:r>
            <a:br/>
            <a:r>
              <a:t>- Clock/data recovery (CDR)</a:t>
            </a:r>
            <a:br/>
            <a:r>
              <a:t>- Serializer/deserializer (SerDes)</a:t>
            </a:r>
            <a:br/>
            <a:r>
              <a:t>- Training, calibration circuits</a:t>
            </a:r>
            <a:br/>
            <a:r>
              <a:t>- Command/address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~1-3 pJ/byte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4903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Total Energy per Byte: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02335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E_total = E_row_activation/burst_length  +  E_column_access  +  E_io_signaling  +  E_phy_controller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What Varies Across Technologies: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234440"/>
            <a:ext cx="4389120" cy="27432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Row Activation (~same)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52704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All use same DRAM cell</a:t>
            </a:r>
            <a:br/>
            <a:r>
              <a:t>physics (capacitor + transistor).</a:t>
            </a:r>
            <a:br/>
            <a:r>
              <a:t>~3-5 pJ/byte regardless of tech.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148840"/>
            <a:ext cx="4389120" cy="274320"/>
          </a:xfrm>
          <a:prstGeom prst="roundRect">
            <a:avLst/>
          </a:prstGeom>
          <a:solidFill>
            <a:srgbClr val="DD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Column Access (~same)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44144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Same array organization.</a:t>
            </a:r>
            <a:br/>
            <a:r>
              <a:t>Burst length affects amortization</a:t>
            </a:r>
            <a:br/>
            <a:r>
              <a:t>(BL16 for LPDDR5, BL32 for HBM3).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063240"/>
            <a:ext cx="4389120" cy="274320"/>
          </a:xfrm>
          <a:prstGeom prst="round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I/O Signaling (VARIES 10x!)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35584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THIS is where the difference lives:</a:t>
            </a:r>
            <a:br/>
            <a:r>
              <a:t>LPDDR5: PoP, short wire, 0.5V swing</a:t>
            </a:r>
            <a:br/>
            <a:r>
              <a:t>GDDR6: PCB trace, long wire, 1.35V</a:t>
            </a:r>
            <a:br/>
            <a:r>
              <a:t>HBM3: TSV, ~100um, 1.1V but wide bus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977639"/>
            <a:ext cx="4389120" cy="27432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PHY/Controller (varies 2-3x)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27024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Complexity tracks signaling:</a:t>
            </a:r>
            <a:br/>
            <a:r>
              <a:t>LPDDR5: Simpler PHY, lower rate</a:t>
            </a:r>
            <a:br/>
            <a:r>
              <a:t>GDDR7: PAM3 SerDes, complex</a:t>
            </a:r>
            <a:br/>
            <a:r>
              <a:t>HBM3: Many channels, simpler/pin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89120"/>
            <a:ext cx="1005840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Key Insight: The DRAM core energy (row + column) is ~4-7 pJ/byte for ALL technologies. The 3.6x range (5 to 18 pJ/byte) comes almost entirely from I/O signaling and packaging.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LPDDR5/5X: Low-Power Package-on-Package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4114800" cy="2286000"/>
          </a:xfrm>
          <a:prstGeom prst="rect">
            <a:avLst/>
          </a:prstGeom>
          <a:solidFill>
            <a:srgbClr val="2A3A5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SoC / Processor Die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960120"/>
            <a:ext cx="822960" cy="45720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LPDDR5</a:t>
            </a:r>
            <a:br/>
            <a:r>
              <a:t>PHY Ch0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960120"/>
            <a:ext cx="822960" cy="45720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LPDDR5</a:t>
            </a:r>
            <a:br/>
            <a:r>
              <a:t>PHY Ch1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960120"/>
            <a:ext cx="822960" cy="45720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LPDDR5</a:t>
            </a:r>
            <a:br/>
            <a:r>
              <a:t>PHY Ch2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960120"/>
            <a:ext cx="822960" cy="45720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LPDDR5</a:t>
            </a:r>
            <a:br/>
            <a:r>
              <a:t>PHY Ch3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600200"/>
            <a:ext cx="3200400" cy="365760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Memory Controller (4-channel, 64-bit total)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103120"/>
            <a:ext cx="3200400" cy="54864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CPU / GPU / NPU Cores</a:t>
            </a:r>
            <a:br/>
            <a:r>
              <a:t>(compute logic)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4114800" cy="1097280"/>
          </a:xfrm>
          <a:prstGeom prst="rect">
            <a:avLst/>
          </a:prstGeom>
          <a:solidFill>
            <a:srgbClr val="1A3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LPDDR5 DRAM (Package-on-Package)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82296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DRAM</a:t>
            </a:r>
            <a:br/>
            <a:r>
              <a:t>Die 0</a:t>
            </a:r>
            <a:br/>
            <a:r>
              <a:t>(16-bit)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3429000"/>
            <a:ext cx="82296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DRAM</a:t>
            </a:r>
            <a:br/>
            <a:r>
              <a:t>Die 1</a:t>
            </a:r>
            <a:br/>
            <a:r>
              <a:t>(16-bit)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429000"/>
            <a:ext cx="82296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DRAM</a:t>
            </a:r>
            <a:br/>
            <a:r>
              <a:t>Die 2</a:t>
            </a:r>
            <a:br/>
            <a:r>
              <a:t>(16-bit)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429000"/>
            <a:ext cx="82296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DRAM</a:t>
            </a:r>
            <a:br/>
            <a:r>
              <a:t>Die 3</a:t>
            </a:r>
            <a:br/>
            <a:r>
              <a:t>(16-bit)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Wire: ~1-3 mm (PoP solder balls)  |  V_IO: 0.5V (LPDDR5) / 0.35V (LPDDR5X)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94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Energy Breakdown per Byte (LPDDR5 @ 6400 MT/s)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0" y="914400"/>
          <a:ext cx="5943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Energy (pJ/B)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Driver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Row Activation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DRAM cell physics (same as all)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Column Access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Burst length 16, column mux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I/O Signaling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0.5V swing, short PoP wire (~2mm)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PHY / Controller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Simple PHY, 4 channels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Clock / Refresh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CK differential, tREFI refresh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669280" y="3154679"/>
            <a:ext cx="2194560" cy="41148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Row: 3.2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154679"/>
            <a:ext cx="822959" cy="411480"/>
          </a:xfrm>
          <a:prstGeom prst="rect">
            <a:avLst/>
          </a:prstGeom>
          <a:solidFill>
            <a:srgbClr val="DD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Col: 1.2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154679"/>
            <a:ext cx="1234440" cy="411480"/>
          </a:xfrm>
          <a:prstGeom prst="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I/O: 1.8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3154679"/>
            <a:ext cx="685800" cy="411480"/>
          </a:xfrm>
          <a:prstGeom prst="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PHY: 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3154679"/>
            <a:ext cx="548640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Clk: 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490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LPDDR5 Characteristics: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23359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Low I/O voltage: 0.5V (LPDDR5) / 0.35V (LPDDR5X)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  E_io = C_wire * V^2 -&gt; 0.5V is 7.3x less than GDDR6's 1.35V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Short wires: Package-on-Package stacking = ~1-3 mm trace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vs GDDR6 PCB: ~20-50 mm  |  vs HBM TSV: ~0.05-0.1 mm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Narrow bus: 4 channels x 16-bit = 64-bit total bus width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Lower bandwidth (25-34 GB/s) but very power-efficient per byte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F3C623"/>
                </a:solidFill>
                <a:latin typeface="Calibri"/>
              </a:defRPr>
            </a:pPr>
            <a:r>
              <a:t>LPDDR5X improvement: Lower V_IO (0.35V) -&gt; ~7.0 pJ/byte (12% better)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GDDR6/6X/7: High-Speed Discrete Graphics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2560320" cy="2286000"/>
          </a:xfrm>
          <a:prstGeom prst="rect">
            <a:avLst/>
          </a:prstGeom>
          <a:solidFill>
            <a:srgbClr val="2A3A5E"/>
          </a:solidFill>
          <a:ln w="19050">
            <a:solidFill>
              <a:srgbClr val="DD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D6633"/>
                </a:solidFill>
                <a:latin typeface="Calibri"/>
              </a:defRPr>
            </a:pPr>
            <a:r>
              <a:t>GPU Die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60120"/>
            <a:ext cx="2194560" cy="365760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Memory Controller</a:t>
            </a:r>
            <a:br/>
            <a:r>
              <a:t>(256-384 bit bus)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194560" cy="32004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GDDR PHY (SerDes, PAM4/PAM3)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194560" cy="82296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SMs / Compute Units</a:t>
            </a:r>
            <a:br/>
            <a:r>
              <a:t>(CUDA cores, TensorCores)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1371600" cy="274320"/>
          </a:xfrm>
          <a:prstGeom prst="rect">
            <a:avLst/>
          </a:prstGeom>
          <a:solidFill>
            <a:srgbClr val="5544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8C00"/>
                </a:solidFill>
              </a:defRPr>
            </a:pPr>
            <a:r>
              <a:t>PCB Traces</a:t>
            </a:r>
            <a:br/>
            <a:r>
              <a:t>20-50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594360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0 (32b)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61288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1 (32b)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728216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2 (32b)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295144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3 (32b)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94360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4 (32b)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61288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5 (32b)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28216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6 (32b)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95144"/>
            <a:ext cx="1188720" cy="4572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GDDR6</a:t>
            </a:r>
            <a:br/>
            <a:r>
              <a:t>Chip 7 (32b)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D6633"/>
                </a:solidFill>
                <a:latin typeface="Calibri"/>
              </a:defRPr>
            </a:pPr>
            <a:r>
              <a:t>8 chips x 32-bit = 256-bit 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C623"/>
                </a:solidFill>
                <a:latin typeface="Calibri"/>
              </a:defRPr>
            </a:pPr>
            <a:r>
              <a:t>Wire: 20-50 mm PCB  |  V_IO: 1.35V (GDDR6), PAM4 (GDDR6X), PAM3 (GDDR7)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94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633"/>
                </a:solidFill>
                <a:latin typeface="Calibri"/>
              </a:defRPr>
            </a:pPr>
            <a:r>
              <a:t>Energy per Byte (pJ/B)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0" y="914400"/>
          <a:ext cx="4114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D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GDDR6</a:t>
                      </a:r>
                    </a:p>
                  </a:txBody>
                  <a:tcPr>
                    <a:solidFill>
                      <a:srgbClr val="DD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GDDR6X</a:t>
                      </a:r>
                    </a:p>
                  </a:txBody>
                  <a:tcPr>
                    <a:solidFill>
                      <a:srgbClr val="DD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GDDR7</a:t>
                      </a:r>
                    </a:p>
                  </a:txBody>
                  <a:tcPr>
                    <a:solidFill>
                      <a:srgbClr val="DD6633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Row Activation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Column Access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I/O Signaling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5.8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PHY / Controller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Clock / Refresh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15.0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18.0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772400" y="3154679"/>
            <a:ext cx="711200" cy="3657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Row: 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83600" y="3154679"/>
            <a:ext cx="304800" cy="365760"/>
          </a:xfrm>
          <a:prstGeom prst="rect">
            <a:avLst/>
          </a:prstGeom>
          <a:solidFill>
            <a:srgbClr val="DD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Col: 1.5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8400" y="3154679"/>
            <a:ext cx="1828800" cy="365760"/>
          </a:xfrm>
          <a:prstGeom prst="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I/O: 9.0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17200" y="3154679"/>
            <a:ext cx="508000" cy="365760"/>
          </a:xfrm>
          <a:prstGeom prst="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PHY: 2.5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25200" y="3154679"/>
            <a:ext cx="304800" cy="3657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Clk: 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5661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GDDR6X: I/O is 50% of total 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Why GDDR I/O Energy Is So High: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Long PCB traces (20-50 mm):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Capacitance ~ 1-2 pF per trace (vs ~0.05 pF for HBM TSV)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E = C * V^2 per transition = 2 pF * 1.35^2 = 3.6 pJ/bit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High I/O voltage (1.35V for GDDR6):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Compared to 0.5V for LPDDR5: (1.35/0.5)^2 = 7.3x more energy per bit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This is pure physics: E = C*V^2, voltage dominates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PAM4 (GDDR6X) adds complexity: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4-level signaling requires tighter voltage margins + more complex receivers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Higher BW per pin, but MORE energy per bit (18 vs 15 pJ/byte)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PAM3 (GDDR7) partially recovers: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3-level signaling: 50% better noise margin than PAM4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Combined with lower voltage -&gt; 14 pJ/byte (best GDDR)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HBM2/3/3E: 3D-Stacked Memory on Silicon Interposer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6858000" cy="365760"/>
          </a:xfrm>
          <a:prstGeom prst="rect">
            <a:avLst/>
          </a:prstGeom>
          <a:solidFill>
            <a:srgbClr val="5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Package Substrate / BGA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971800"/>
            <a:ext cx="6492240" cy="457200"/>
          </a:xfrm>
          <a:prstGeom prst="rect">
            <a:avLst/>
          </a:prstGeom>
          <a:solidFill>
            <a:srgbClr val="44336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Silicon Interposer (65nm passive Si, ~30mm x 30mm)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743200" cy="1828800"/>
          </a:xfrm>
          <a:prstGeom prst="rect">
            <a:avLst/>
          </a:prstGeom>
          <a:solidFill>
            <a:srgbClr val="2A3A5E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ACC"/>
                </a:solidFill>
                <a:latin typeface="Calibri"/>
              </a:defRPr>
            </a:pPr>
            <a:r>
              <a:t>GPU / Accelerator Die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17320"/>
            <a:ext cx="2377440" cy="320040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HBM PHY (per-stack controller)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874519"/>
            <a:ext cx="2377440" cy="82296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Compute Logic</a:t>
            </a:r>
            <a:br/>
            <a:r>
              <a:t>(SMs, TensorCores)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240280"/>
            <a:ext cx="822960" cy="274320"/>
          </a:xfrm>
          <a:prstGeom prst="rect">
            <a:avLst/>
          </a:prstGeom>
          <a:solidFill>
            <a:srgbClr val="70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920240"/>
            <a:ext cx="822960" cy="274320"/>
          </a:xfrm>
          <a:prstGeom prst="rect">
            <a:avLst/>
          </a:prstGeom>
          <a:solidFill>
            <a:srgbClr val="85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600200"/>
            <a:ext cx="822960" cy="274320"/>
          </a:xfrm>
          <a:prstGeom prst="rect">
            <a:avLst/>
          </a:prstGeom>
          <a:solidFill>
            <a:srgbClr val="9A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80160"/>
            <a:ext cx="822960" cy="274320"/>
          </a:xfrm>
          <a:prstGeom prst="rect">
            <a:avLst/>
          </a:prstGeom>
          <a:solidFill>
            <a:srgbClr val="AF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8B5CF6"/>
                </a:solidFill>
                <a:latin typeface="Calibri"/>
              </a:defRPr>
            </a:pPr>
            <a:r>
              <a:t>TSV</a:t>
            </a:r>
            <a:br/>
            <a:r>
              <a:t>1024-bit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697479"/>
            <a:ext cx="822960" cy="228600"/>
          </a:xfrm>
          <a:prstGeom prst="rect">
            <a:avLst/>
          </a:prstGeom>
          <a:solidFill>
            <a:srgbClr val="44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8B5CF6"/>
                </a:solidFill>
              </a:defRPr>
            </a:pPr>
            <a:r>
              <a:t>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240280"/>
            <a:ext cx="822960" cy="274320"/>
          </a:xfrm>
          <a:prstGeom prst="rect">
            <a:avLst/>
          </a:prstGeom>
          <a:solidFill>
            <a:srgbClr val="70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920240"/>
            <a:ext cx="822960" cy="274320"/>
          </a:xfrm>
          <a:prstGeom prst="rect">
            <a:avLst/>
          </a:prstGeom>
          <a:solidFill>
            <a:srgbClr val="85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600200"/>
            <a:ext cx="822960" cy="274320"/>
          </a:xfrm>
          <a:prstGeom prst="rect">
            <a:avLst/>
          </a:prstGeom>
          <a:solidFill>
            <a:srgbClr val="9A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280160"/>
            <a:ext cx="822960" cy="274320"/>
          </a:xfrm>
          <a:prstGeom prst="rect">
            <a:avLst/>
          </a:prstGeom>
          <a:solidFill>
            <a:srgbClr val="AF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8B5CF6"/>
                </a:solidFill>
                <a:latin typeface="Calibri"/>
              </a:defRPr>
            </a:pPr>
            <a:r>
              <a:t>TSV</a:t>
            </a:r>
            <a:br/>
            <a:r>
              <a:t>1024-bit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79"/>
            <a:ext cx="822960" cy="228600"/>
          </a:xfrm>
          <a:prstGeom prst="rect">
            <a:avLst/>
          </a:prstGeom>
          <a:solidFill>
            <a:srgbClr val="44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8B5CF6"/>
                </a:solidFill>
              </a:defRPr>
            </a:pPr>
            <a:r>
              <a:t>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40280"/>
            <a:ext cx="822960" cy="274320"/>
          </a:xfrm>
          <a:prstGeom prst="rect">
            <a:avLst/>
          </a:prstGeom>
          <a:solidFill>
            <a:srgbClr val="70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20240"/>
            <a:ext cx="822960" cy="274320"/>
          </a:xfrm>
          <a:prstGeom prst="rect">
            <a:avLst/>
          </a:prstGeom>
          <a:solidFill>
            <a:srgbClr val="85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600200"/>
            <a:ext cx="822960" cy="274320"/>
          </a:xfrm>
          <a:prstGeom prst="rect">
            <a:avLst/>
          </a:prstGeom>
          <a:solidFill>
            <a:srgbClr val="9A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822960" cy="274320"/>
          </a:xfrm>
          <a:prstGeom prst="rect">
            <a:avLst/>
          </a:prstGeom>
          <a:solidFill>
            <a:srgbClr val="AF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Die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8B5CF6"/>
                </a:solidFill>
                <a:latin typeface="Calibri"/>
              </a:defRPr>
            </a:pPr>
            <a:r>
              <a:t>TSV</a:t>
            </a:r>
            <a:br/>
            <a:r>
              <a:t>1024-bit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697479"/>
            <a:ext cx="822960" cy="228600"/>
          </a:xfrm>
          <a:prstGeom prst="rect">
            <a:avLst/>
          </a:prstGeom>
          <a:solidFill>
            <a:srgbClr val="44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8B5CF6"/>
                </a:solidFill>
              </a:defRPr>
            </a:pPr>
            <a:r>
              <a:t>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731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HBM3 Stacks (3-6 stacks, 8-12 dies each)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C623"/>
                </a:solidFill>
                <a:latin typeface="Calibri"/>
              </a:defRPr>
            </a:pPr>
            <a:r>
              <a:t>TSV pitch: ~5-10 um  |  Wire length: ~50-100 um (vertical) + ~5-15 mm (interposer)  |  V_IO: 1.1V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94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Energy per Byte (pJ/B)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0" y="914400"/>
          <a:ext cx="4114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HBM2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HBM2E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HBM3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HBM3E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Row Activation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Column Access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I/O (TSV+Interp)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PHY / Controller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Clock / Refresh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5.5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772400" y="3154679"/>
            <a:ext cx="1463040" cy="3657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Row: 2.2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154679"/>
            <a:ext cx="532014" cy="365760"/>
          </a:xfrm>
          <a:prstGeom prst="rect">
            <a:avLst/>
          </a:prstGeom>
          <a:solidFill>
            <a:srgbClr val="DD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Col: 0.8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67454" y="3154679"/>
            <a:ext cx="665018" cy="365760"/>
          </a:xfrm>
          <a:prstGeom prst="rect">
            <a:avLst/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I/O: 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32472" y="3154679"/>
            <a:ext cx="598516" cy="365760"/>
          </a:xfrm>
          <a:prstGeom prst="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PHY: 0.9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30989" y="3154679"/>
            <a:ext cx="399010" cy="3657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Clk: 0.6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5661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HBM3: Row activation is 40% -- I/O is only 18%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383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Why HBM Achieves the Lowest Energy per Byte: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03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Ultra-short I/O path (TSV):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TSV length: ~50 um (vs 20-50 mm for GDDR PCB)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Wire capacitance: ~50 fF (vs 2 pF for PCB)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   -&gt; 40x less capacitance = 40x less I/O energy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Ultra-wide bus (1024-bit per stack):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Low speed per pin (3.2-9.6 Gbps)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-&gt; Simple NRZ signaling (no PAM4 overhead)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   -&gt; Simpler PHY per pin, lower per-bit energy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DRAM process optimization: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HBM uses latest DRAM process node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Smaller cells -&gt; less charge -&gt; less row energy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03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8C00"/>
                </a:solidFill>
                <a:latin typeface="Calibri"/>
              </a:defRPr>
            </a:pPr>
            <a:r>
              <a:t>The Trade-Off: Cost vs Energy: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   HBM3:   5.5 pJ/B  |  3.35 TB/s  |  12x cost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0096D6"/>
                </a:solidFill>
                <a:latin typeface="Calibri"/>
              </a:defRPr>
            </a:pPr>
            <a:r>
              <a:t>   LPDDR5: 8.0 pJ/B  |  25 GB/s    |  2x cost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DD6633"/>
                </a:solidFill>
                <a:latin typeface="Calibri"/>
              </a:defRPr>
            </a:pPr>
            <a:r>
              <a:t>   GDDR6:  15.0 pJ/B |  128 GB/s   |  2x cost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HBM is 2.7x more energy-efficient than GDDR6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but costs 6x more per GB.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LPDDR5 is 1.9x more energy-efficient than GDDR6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at the same cost tier -- but 100x less bandwidth.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For energy-optimized AI (KPU), LPDDR5 at 8 pJ/B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is within 1.45x of HBM3 at 5.5 pJ/B, at 6x lower cost.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Sources: Vogelsang MICRO 2010, Horowitz ISSCC 2014, JEDEC LPDDR5/GDDR6/HBM3 specs, vendor datasheets (Micron, SK hynix, Samsung)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