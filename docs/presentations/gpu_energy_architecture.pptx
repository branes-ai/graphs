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GPU Energy: From Instruction Tax to Data Movement 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How Thread Concurrency Hides Latency but Shifts the Energy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2286000"/>
            <a:ext cx="7315200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2651760"/>
            <a:ext cx="8229600" cy="128016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743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9"/>
              </a:spcAft>
              <a:defRPr sz="1500" b="1">
                <a:solidFill>
                  <a:srgbClr val="76B900"/>
                </a:solidFill>
                <a:latin typeface="Calibri"/>
              </a:defRPr>
            </a:pPr>
            <a:r>
              <a:t>The GPU Bargain:</a:t>
            </a:r>
          </a:p>
          <a:p>
            <a:pPr algn="ctr">
              <a:spcAft>
                <a:spcPts val="599"/>
              </a:spcAft>
              <a:defRPr sz="1500" b="0">
                <a:solidFill>
                  <a:srgbClr val="E8E8E8"/>
                </a:solidFill>
                <a:latin typeface="Calibri"/>
              </a:defRPr>
            </a:pPr>
            <a:r>
              <a:t>GPUs reduce instruction frontend overhead by amortizing one instruction</a:t>
            </a:r>
          </a:p>
          <a:p>
            <a:pPr algn="ctr">
              <a:spcAft>
                <a:spcPts val="599"/>
              </a:spcAft>
              <a:defRPr sz="1500" b="0">
                <a:solidFill>
                  <a:srgbClr val="E8E8E8"/>
                </a:solidFill>
                <a:latin typeface="Calibri"/>
              </a:defRPr>
            </a:pPr>
            <a:r>
              <a:t>across 32 threads (a warp). But to hide memory latency, they run hundreds</a:t>
            </a:r>
          </a:p>
          <a:p>
            <a:pPr algn="ctr">
              <a:spcAft>
                <a:spcPts val="599"/>
              </a:spcAft>
              <a:defRPr sz="1500" b="0">
                <a:solidFill>
                  <a:srgbClr val="E8E8E8"/>
                </a:solidFill>
                <a:latin typeface="Calibri"/>
              </a:defRPr>
            </a:pPr>
            <a:r>
              <a:t>of concurrent threads -- each needing its own registers.</a:t>
            </a:r>
          </a:p>
          <a:p>
            <a:pPr algn="ctr">
              <a:spcAft>
                <a:spcPts val="599"/>
              </a:spcAft>
              <a:defRPr sz="1500" b="1">
                <a:solidFill>
                  <a:srgbClr val="FF8C00"/>
                </a:solidFill>
                <a:latin typeface="Calibri"/>
              </a:defRPr>
            </a:pPr>
            <a:r>
              <a:t>The result: 64K registers per SM, fed through banked SRAM with operand</a:t>
            </a:r>
          </a:p>
          <a:p>
            <a:pPr algn="ctr">
              <a:spcAft>
                <a:spcPts val="599"/>
              </a:spcAft>
              <a:defRPr sz="1500" b="1">
                <a:solidFill>
                  <a:srgbClr val="FF8C00"/>
                </a:solidFill>
                <a:latin typeface="Calibri"/>
              </a:defRPr>
            </a:pPr>
            <a:r>
              <a:t>collectors. This data movement infrastructure is always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4114800" cy="45720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CPU: Frontend-Heavy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1">
                <a:solidFill>
                  <a:srgbClr val="E04040"/>
                </a:solidFill>
                <a:latin typeface="Calibri"/>
              </a:defRPr>
            </a:pPr>
            <a:r>
              <a:t>~15 pJ per scalar FP32 op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63% energy in instruction frontend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I-cache, decode, branch predict, rename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Small register file (16-64 entries)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41148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t>GPU: Data-Movement-Heavy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1">
                <a:solidFill>
                  <a:srgbClr val="76B900"/>
                </a:solidFill>
                <a:latin typeface="Calibri"/>
              </a:defRPr>
            </a:pPr>
            <a:r>
              <a:t>~1.65 pJ per TensorCore MAC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Frontend amortized over 32 threads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8C00"/>
                </a:solidFill>
                <a:latin typeface="Calibri"/>
              </a:defRPr>
            </a:pPr>
            <a:r>
              <a:t>But: 64K registers, banked SRAM,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8C00"/>
                </a:solidFill>
                <a:latin typeface="Calibri"/>
              </a:defRPr>
            </a:pPr>
            <a:r>
              <a:t>operand collectors, crossbar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9377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Both architectures are stored-program machines -- operands must be explicitly fetched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Streaming Multiprocessor (SM) Architecture: H100-Class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Each SM is divided into 4 independent partitions -- each a complete SIMD execution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3429000"/>
          </a:xfrm>
          <a:prstGeom prst="rect">
            <a:avLst/>
          </a:prstGeom>
          <a:solidFill>
            <a:srgbClr val="22223E"/>
          </a:solidFill>
          <a:ln w="1905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6688"/>
                </a:solidFill>
                <a:latin typeface="Calibri"/>
              </a:defRPr>
            </a:pPr>
            <a:r>
              <a:t>Partition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46887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Warp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468879" cy="29260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Scoreboard (RAW/WAW/WAR)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29968"/>
            <a:ext cx="2468879" cy="34747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Operand Collector</a:t>
            </a:r>
            <a:br/>
            <a:r>
              <a:t>(gather + buffer)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50592"/>
            <a:ext cx="2468879" cy="32004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Register Bank (16K regs)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2468879" cy="27432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Crossbar (32-wide routing)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82112"/>
            <a:ext cx="11430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32 CUDA</a:t>
            </a:r>
            <a:br/>
            <a:r>
              <a:t>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182112"/>
            <a:ext cx="1143000" cy="32004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1 Tensor</a:t>
            </a:r>
            <a:br/>
            <a:r>
              <a:t>Core (64 MACs)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84448"/>
            <a:ext cx="2468879" cy="27432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Result Writeback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862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04040"/>
                </a:solidFill>
                <a:latin typeface="Calibri"/>
              </a:defRPr>
            </a:pPr>
            <a:r>
              <a:t>^ 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005840"/>
            <a:ext cx="2651760" cy="3429000"/>
          </a:xfrm>
          <a:prstGeom prst="rect">
            <a:avLst/>
          </a:prstGeom>
          <a:solidFill>
            <a:srgbClr val="22223E"/>
          </a:solidFill>
          <a:ln w="1905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0241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6688"/>
                </a:solidFill>
                <a:latin typeface="Calibri"/>
              </a:defRPr>
            </a:pPr>
            <a:r>
              <a:t>Partition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280160"/>
            <a:ext cx="246887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Warp Scheduler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664208"/>
            <a:ext cx="2468879" cy="29260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Scoreboard (RAW/WAW/WAR)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029968"/>
            <a:ext cx="2468879" cy="34747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Operand Collector</a:t>
            </a:r>
            <a:br/>
            <a:r>
              <a:t>(gather + buffer)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450592"/>
            <a:ext cx="2468879" cy="32004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Register Bank (16K regs)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834640"/>
            <a:ext cx="2468879" cy="27432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Crossbar (32-wide routing)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182112"/>
            <a:ext cx="11430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32 CUDA</a:t>
            </a:r>
            <a:br/>
            <a:r>
              <a:t>Cores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182112"/>
            <a:ext cx="1143000" cy="32004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1 Tensor</a:t>
            </a:r>
            <a:br/>
            <a:r>
              <a:t>Core (64 MACs)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584448"/>
            <a:ext cx="2468879" cy="27432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Result Writeback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8862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04040"/>
                </a:solidFill>
                <a:latin typeface="Calibri"/>
              </a:defRPr>
            </a:pPr>
            <a:r>
              <a:t>^ RF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005840"/>
            <a:ext cx="2651760" cy="3429000"/>
          </a:xfrm>
          <a:prstGeom prst="rect">
            <a:avLst/>
          </a:prstGeom>
          <a:solidFill>
            <a:srgbClr val="22223E"/>
          </a:solidFill>
          <a:ln w="1905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0241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6688"/>
                </a:solidFill>
                <a:latin typeface="Calibri"/>
              </a:defRPr>
            </a:pPr>
            <a:r>
              <a:t>Partition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1280160"/>
            <a:ext cx="246887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Warp Scheduler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1664208"/>
            <a:ext cx="2468879" cy="29260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Scoreboard (RAW/WAW/WAR)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029968"/>
            <a:ext cx="2468879" cy="34747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Operand Collector</a:t>
            </a:r>
            <a:br/>
            <a:r>
              <a:t>(gather + buffer)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2450592"/>
            <a:ext cx="2468879" cy="32004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Register Bank (16K regs)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2834640"/>
            <a:ext cx="2468879" cy="27432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Crossbar (32-wide routing)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3182112"/>
            <a:ext cx="11430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32 CUDA</a:t>
            </a:r>
            <a:br/>
            <a:r>
              <a:t>Cores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182112"/>
            <a:ext cx="1143000" cy="32004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1 Tensor</a:t>
            </a:r>
            <a:br/>
            <a:r>
              <a:t>Core (64 MACs)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3584448"/>
            <a:ext cx="2468879" cy="27432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Result Writeback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8862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04040"/>
                </a:solidFill>
                <a:latin typeface="Calibri"/>
              </a:defRPr>
            </a:pPr>
            <a:r>
              <a:t>^ RF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1005840"/>
            <a:ext cx="2651760" cy="3429000"/>
          </a:xfrm>
          <a:prstGeom prst="rect">
            <a:avLst/>
          </a:prstGeom>
          <a:solidFill>
            <a:srgbClr val="22223E"/>
          </a:solidFill>
          <a:ln w="1905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10241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6688"/>
                </a:solidFill>
                <a:latin typeface="Calibri"/>
              </a:defRPr>
            </a:pPr>
            <a:r>
              <a:t>Partition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1280160"/>
            <a:ext cx="2468879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Warp Scheduler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19" y="1664208"/>
            <a:ext cx="2468879" cy="29260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Scoreboard (RAW/WAW/WAR)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19" y="2029968"/>
            <a:ext cx="2468879" cy="347472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Operand Collector</a:t>
            </a:r>
            <a:br/>
            <a:r>
              <a:t>(gather + buffer)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19" y="2450592"/>
            <a:ext cx="2468879" cy="32004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Register Bank (16K regs)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19" y="2834640"/>
            <a:ext cx="2468879" cy="27432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Crossbar (32-wide routing)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19" y="3182112"/>
            <a:ext cx="11430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32 CUDA</a:t>
            </a:r>
            <a:br/>
            <a:r>
              <a:t>Cores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3182112"/>
            <a:ext cx="1143000" cy="32004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1 Tensor</a:t>
            </a:r>
            <a:br/>
            <a:r>
              <a:t>Core (64 MACs)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19" y="3584448"/>
            <a:ext cx="2468879" cy="27432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Result Writeback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38862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04040"/>
                </a:solidFill>
                <a:latin typeface="Calibri"/>
              </a:defRPr>
            </a:pPr>
            <a:r>
              <a:t>^ RF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617720"/>
            <a:ext cx="10972800" cy="41148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Shared L1 Cache / Shared Memory -- 192 KB (configurable split)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solidFill>
            <a:srgbClr val="28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L2 Cache -- 50 MB (shared across all 132 SMs)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HBM3 -- 80 GB (3.35 TB/s bandwidth)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0350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SM Numbers (H100)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64K registers per SM (256 KB)  |  2048 max resident threads  |  64 max warps  |  128 CUDA cores + 4 TensorCores  |  32 register banks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  Every cycle: 4 warp schedulers issue 4 instructions -&gt; feeding 128 CUDA cores or 4 TensorCores simultaneously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64K Register File: Banked SRAM Feeding the SIMD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256 KB of register storage per SM, organized as 32 banks to support concurrent warp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87DB3"/>
                </a:solidFill>
                <a:latin typeface="Calibri"/>
              </a:defRPr>
            </a:pPr>
            <a:r>
              <a:t>32 Register Banks (8 KB SRAM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6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9072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0944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3752" y="1097280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9072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3752" y="1426464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9072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0008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80944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3752" y="1755648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8136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9072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008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0944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3752" y="2084832"/>
            <a:ext cx="594360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Bank 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459735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Calibri"/>
              </a:defRPr>
            </a:pPr>
            <a:r>
              <a:t>Thread 0 -&gt; Bank 0, Thread 1 -&gt; Bank 1, ... Thread 31 -&gt; Bank 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68833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Bank Conflict: When 2+ threads in a warp access the same bank,</a:t>
            </a:r>
            <a:br/>
            <a:r>
              <a:t>accesses are serialized -&gt; variable latency -&gt; needs buffering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8686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623"/>
                </a:solidFill>
                <a:latin typeface="Calibri"/>
              </a:defRPr>
            </a:pPr>
            <a:r>
              <a:t>Operand Delivery Pipeline (per warp instruction)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1097280"/>
            <a:ext cx="3200400" cy="38404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Scoreboard Lookup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1115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Check RAW/WAW/WAR hazards for this warp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1554480"/>
            <a:ext cx="3200400" cy="384048"/>
          </a:xfrm>
          <a:prstGeom prst="round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Register Address 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1572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Decode src1, src2, dst register IDs (x32 threads)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011680"/>
            <a:ext cx="3200400" cy="384048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Bank Arbitration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029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Detect &amp; resolve bank conflicts across 32 threads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468880"/>
            <a:ext cx="3200400" cy="384048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SRAM Read (32 banks)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Read 32 x 32-bit operands from banked register file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2926080"/>
            <a:ext cx="3200400" cy="384048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Operand Collector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944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Buffer operands until ALL 32 are ready (variable latency)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3383280"/>
            <a:ext cx="3200400" cy="384048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6. Crossbar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401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Route 32 operands from collector to SIMD lanes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3840480"/>
            <a:ext cx="3200400" cy="38404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SIMD ALU Execute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858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32 FP32 FMA operations in parallel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0" y="4297680"/>
            <a:ext cx="3200400" cy="384048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8. Result Writeback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Route 32 results back through crossbar to register banks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868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D8"/>
                </a:solidFill>
                <a:latin typeface="Calibri"/>
              </a:defRPr>
            </a:pPr>
            <a:r>
              <a:t>Energy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11430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0.3 pJ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1600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0.6 pJ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0.3 pJ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2514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0.5 pJ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2971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0.8 pJ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34290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0.4 pJ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38862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0.7 pJ/op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4343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  <a:latin typeface="Calibri"/>
              </a:defRPr>
            </a:pPr>
            <a:r>
              <a:t>0.3 pJ + 0.5 pJ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4983480"/>
            <a:ext cx="1097280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50292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1">
                <a:solidFill>
                  <a:srgbClr val="F39623"/>
                </a:solidFill>
                <a:latin typeface="Calibri"/>
              </a:defRPr>
            </a:pPr>
            <a:r>
              <a:t>The operand collector exists because bank conflicts create variable latency.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It buffers partial results until ALL 32 thread operands are ready, then issues them as a unit into the SIMD engine.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FF8C00"/>
                </a:solidFill>
                <a:latin typeface="Calibri"/>
              </a:defRPr>
            </a:pPr>
            <a:r>
              <a:t>This collector + the entire banked SRAM infrastructure is active on EVERY cycle, for EVERY warp instruction.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806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Why 64K registers?  2048 threads x 32 registers/thread = 65,536 registers. All threads must be resident to hide memory latency (100+ cycle HBM access).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The GPU cannot reduce the register file -- it IS the latency hiding mechanism. But powering 256 KB of banked SRAM every cycle is the energy cost of concurrency.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GPU Energy Equation: Per-MAC Cost at the SM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Energy per CUDA Core MAC (amortized over 32-thread warp):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E_mac = (E_sched + E_scoreboard + E_addr_gen + E_bank_arb + E_sram_read + E_collector + E_crossbar) / 32  +  E_alu  +  (E_result_route + E_sram_write) /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Simplified: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E_mac  =  E_overhead/32  +  E_alu  +  E_writeback/32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"Concurrency Tax"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Useful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4040"/>
                </a:solidFill>
                <a:latin typeface="Calibri"/>
              </a:defRPr>
            </a:pPr>
            <a:r>
              <a:t>Result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Numerical Evaluation: CUDA Core Path at 4nm (H100-class)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5603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Per-Warp Energy (pJ)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Per-MAC (pJ)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Warp Scheduler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B5CF6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Scoreboard Lookup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8B5CF6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Register Addr Gen (x3)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9623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Bank Arbitration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9623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SRAM Read (2 src)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9623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Operand Collector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9623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Crossbar Routing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0.013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9623"/>
                          </a:solidFill>
                        </a:defRPr>
                      </a:pPr>
                      <a:r>
                        <a:t>Operand Fetch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1.1%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CUDA Core ALU (FMA)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1.105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Result Route + Write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4040"/>
                          </a:solidFill>
                        </a:defRPr>
                      </a:pPr>
                      <a:r>
                        <a:t>Writeback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440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Energy per CUDA Core MAC at 4nm:  1.24 pJ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760720"/>
            <a:ext cx="184801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Ctrl: 0.025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6401" y="5760720"/>
            <a:ext cx="606150" cy="411480"/>
          </a:xfrm>
          <a:prstGeom prst="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Operand Fetch: 0.082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2552" y="5760720"/>
            <a:ext cx="8168245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ALU: 1.105 pJ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0798" y="5760720"/>
            <a:ext cx="184801" cy="41148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WB: 0.025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190488"/>
            <a:ext cx="790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Overhead: 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2552" y="6190488"/>
            <a:ext cx="816824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Useful Compute: 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CUDA cores: ALU dominates because overhead is amortized over 32 threads. But at the SM level, the banked SRAM + collectors draw continuous power.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CPU vs GPU: Different Overhead, Same Stored-Program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TensorCore Path (4x4x4 MMA = 64 MACs per instruction):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E_tc_mac = E_overhead/64  +  E_tensor_alu  +  E_writeback/64  =  ~1.65 pJ/MAC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Calibri"/>
              </a:defRPr>
            </a:pPr>
            <a:r>
              <a:t>TensorCores amortize overhead over 64 MACs (vs 32 for CUDA), reducing per-MAC overhead by 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Energy Breakdown Comparison at 4nm Process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144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Energy Component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CPU (scalar FP32)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GPU CUDA Core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GPU TensorCore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8C00"/>
                          </a:solidFill>
                        </a:defRPr>
                      </a:pPr>
                      <a:r>
                        <a:t>Instruction Frontend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8C00"/>
                          </a:solidFill>
                        </a:defRPr>
                      </a:pPr>
                      <a:r>
                        <a:t>9.5 pJ (63%)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8C00"/>
                          </a:solidFill>
                        </a:defRPr>
                      </a:pPr>
                      <a:r>
                        <a:t>0.025 pJ (2%)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8C00"/>
                          </a:solidFill>
                        </a:defRPr>
                      </a:pPr>
                      <a:r>
                        <a:t>0.013 pJ (1%)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Operand Fetch / Delivery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1.6 pJ (11%)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0.082 pJ (7%)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0.041 pJ (4%)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ALU / Compute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1.8 pJ (12%)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1.105 pJ (89%)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0.34 pJ (29%)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Writeback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0.9 pJ (6%)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0.025 pJ (2%)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0.010 pJ (1%)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Pipeline / Wire / Other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1.2 pJ (8%)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--- 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--- 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C623"/>
                          </a:solidFill>
                        </a:defRPr>
                      </a:pPr>
                      <a:r>
                        <a:t>TOTAL per operation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C623"/>
                          </a:solidFill>
                        </a:defRPr>
                      </a:pPr>
                      <a:r>
                        <a:t>~15.0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C623"/>
                          </a:solidFill>
                        </a:defRPr>
                      </a:pPr>
                      <a:r>
                        <a:t>~1.24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3C623"/>
                          </a:solidFill>
                        </a:defRPr>
                      </a:pPr>
                      <a:r>
                        <a:t>~0.40 pJ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</a:defRPr>
                      </a:pPr>
                      <a:r>
                        <a:t>Overhead-to-ALU Ratio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</a:defRPr>
                      </a:pPr>
                      <a:r>
                        <a:t>7.3x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</a:defRPr>
                      </a:pPr>
                      <a:r>
                        <a:t>0.12x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</a:defRPr>
                      </a:pPr>
                      <a:r>
                        <a:t>0.19x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914400" y="4114800"/>
            <a:ext cx="10058400" cy="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Calibri"/>
              </a:defRPr>
            </a:pPr>
            <a:r>
              <a:t>But: The Full SM Picture -- Where the Energy Really Goes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Per-MAC numbers look great for the GPU. But the SM has: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* 64K registers (256 KB of banked SRAM) -- powered every cycle regardless of utilization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* 4 operand collectors -- continuously buffering, arbitrating, routing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* 4 warp schedulers + scoreboards -- tracking 64 warps of hazard state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* 32 register banks with crossbar -- always ready for next warp switch</a:t>
            </a:r>
          </a:p>
          <a:p>
            <a:pPr algn="l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</a:p>
          <a:p>
            <a:pPr algn="l">
              <a:spcAft>
                <a:spcPts val="479"/>
              </a:spcAft>
              <a:defRPr sz="1200" b="1">
                <a:solidFill>
                  <a:srgbClr val="F3C623"/>
                </a:solidFill>
                <a:latin typeface="Calibri"/>
              </a:defRPr>
            </a:pPr>
            <a:r>
              <a:t>This infrastructure exists to hide memory latency through thread concurrency.</a:t>
            </a:r>
          </a:p>
          <a:p>
            <a:pPr algn="l">
              <a:spcAft>
                <a:spcPts val="479"/>
              </a:spcAft>
              <a:defRPr sz="1200" b="1">
                <a:solidFill>
                  <a:srgbClr val="FF8C00"/>
                </a:solidFill>
                <a:latin typeface="Calibri"/>
              </a:defRPr>
            </a:pPr>
            <a:r>
              <a:t>At the SM level, the register file + operand delivery burns ~60% of compute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400800"/>
            <a:ext cx="9144000" cy="4114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6428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What if we could eliminate the register file entirely? (Next: Domain Flow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