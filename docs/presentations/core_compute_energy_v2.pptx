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Register File IS the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  <a:latin typeface="Calibri"/>
              </a:defRPr>
            </a:pPr>
            <a:r>
              <a:t>Why 256 KB of Banked SRAM Defines GPU Energy -- and What TPU/KPU Do Instead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1828800"/>
            <a:ext cx="7315200" cy="0"/>
          </a:xfrm>
          <a:prstGeom prst="line">
            <a:avLst/>
          </a:prstGeom>
          <a:ln w="25400">
            <a:solidFill>
              <a:srgbClr val="6C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371600" y="2103120"/>
            <a:ext cx="9144000" cy="164592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19456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19"/>
              </a:spcAft>
              <a:defRPr sz="1300" b="1">
                <a:solidFill>
                  <a:srgbClr val="FF8C00"/>
                </a:solidFill>
                <a:latin typeface="Calibri"/>
              </a:defRPr>
            </a:pPr>
            <a:r>
              <a:t>The Central Question:</a:t>
            </a:r>
          </a:p>
          <a:p>
            <a:pPr algn="ctr">
              <a:spcAft>
                <a:spcPts val="519"/>
              </a:spcAft>
              <a:defRPr sz="1300" b="0">
                <a:solidFill>
                  <a:srgbClr val="E8E8E8"/>
                </a:solidFill>
                <a:latin typeface="Calibri"/>
              </a:defRPr>
            </a:pPr>
            <a:r>
              <a:t>Every compute architecture must deliver operands to ALUs. The question is HOW:</a:t>
            </a:r>
          </a:p>
          <a:p>
            <a:pPr algn="ctr">
              <a:spcAft>
                <a:spcPts val="51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51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GPU: Centralized 256 KB banked SRAM shared by 2048 threads, accessed via</a:t>
            </a:r>
          </a:p>
          <a:p>
            <a:pPr algn="ctr">
              <a:spcAft>
                <a:spcPts val="519"/>
              </a:spcAft>
              <a:defRPr sz="1300" b="0">
                <a:solidFill>
                  <a:srgbClr val="E8E8E8"/>
                </a:solidFill>
                <a:latin typeface="Calibri"/>
              </a:defRPr>
            </a:pPr>
            <a:r>
              <a:t>     address decode -&gt; bank arbitration -&gt; operand collector -&gt; crossbar -&gt; ALU</a:t>
            </a:r>
          </a:p>
          <a:p>
            <a:pPr algn="ctr">
              <a:spcAft>
                <a:spcPts val="51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51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TPU/KPU: Distributed PE-local registers (latches). Each PE has 2-4 registers.</a:t>
            </a:r>
          </a:p>
          <a:p>
            <a:pPr algn="ctr">
              <a:spcAft>
                <a:spcPts val="519"/>
              </a:spcAft>
              <a:defRPr sz="1300" b="0">
                <a:solidFill>
                  <a:srgbClr val="E8E8E8"/>
                </a:solidFill>
                <a:latin typeface="Calibri"/>
              </a:defRPr>
            </a:pPr>
            <a:r>
              <a:t>     Data arrives via spatial wiring (compile-time routed). No shared SRAM.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3474720" cy="365760"/>
          </a:xfrm>
          <a:prstGeom prst="round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Small RF (16-64 regs)</a:t>
            </a:r>
            <a:br/>
            <a:r>
              <a:t>Multi-ported SRAM</a:t>
            </a:r>
            <a:br/>
            <a:r>
              <a:t>Per-core, private</a:t>
            </a:r>
            <a:br/>
            <a:br/>
            <a:r>
              <a:t>Overhead: moderate</a:t>
            </a:r>
            <a:br/>
            <a:r>
              <a:t>(addressed by SIMD width)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114800"/>
            <a:ext cx="3474720" cy="36576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GPU 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5720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MASSIVE RF (64K regs = 256 KB)</a:t>
            </a:r>
            <a:br/>
            <a:r>
              <a:t>32-banked SRAM</a:t>
            </a:r>
            <a:br/>
            <a:r>
              <a:t>Shared by 2048 threads</a:t>
            </a:r>
            <a:br/>
            <a:br/>
            <a:r>
              <a:t>Overhead: LARGE</a:t>
            </a:r>
            <a:br/>
            <a:r>
              <a:t>(hidden by amortization)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114800"/>
            <a:ext cx="3474720" cy="36576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TPU / KPU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5720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DISTRIBUTED (PE-local latches)</a:t>
            </a:r>
            <a:br/>
            <a:r>
              <a:t>No shared SRAM structure</a:t>
            </a:r>
            <a:br/>
            <a:r>
              <a:t>No address decode or arbitration</a:t>
            </a:r>
            <a:br/>
            <a:br/>
            <a:r>
              <a:t>Overhead: NEAR ZERO</a:t>
            </a:r>
            <a:br/>
            <a:r>
              <a:t>(operands arrive spatially)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All comparisons at 7nm TSMC N7. Core compute only (no external memory).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CPU: Small Register File, Amortized by SIMD Width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5029200" cy="4114800"/>
          </a:xfrm>
          <a:prstGeom prst="rect">
            <a:avLst/>
          </a:prstGeom>
          <a:solidFill>
            <a:srgbClr val="22223E"/>
          </a:solidFill>
          <a:ln w="19050">
            <a:solidFill>
              <a:srgbClr val="3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675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A86C8"/>
                </a:solidFill>
                <a:latin typeface="Calibri"/>
              </a:defRPr>
            </a:pPr>
            <a:r>
              <a:t>CPU Core (1 of 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4480560" cy="914400"/>
          </a:xfrm>
          <a:prstGeom prst="rect">
            <a:avLst/>
          </a:prstGeom>
          <a:solidFill>
            <a:srgbClr val="6C5CE7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Register File: 16 architectural (x86-64) + ~100 physical (rename)</a:t>
            </a:r>
            <a:br/>
            <a:r>
              <a:t>Multi-ported SRAM: 2 read + 1 write per cycle</a:t>
            </a:r>
            <a:br/>
            <a:r>
              <a:t>Size: ~1-2 KB  |  Private to this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01168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Scalar ALU</a:t>
            </a:r>
            <a:br/>
            <a:r>
              <a:t>FP32 FMA</a:t>
            </a:r>
            <a:br/>
            <a:r>
              <a:t>1 op/cycle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103120"/>
            <a:ext cx="228600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SIMD ALU (AVX-512)</a:t>
            </a:r>
            <a:br/>
            <a:r>
              <a:t>16 x FP32 FMA</a:t>
            </a:r>
            <a:br/>
            <a:r>
              <a:t>16 ops/cycle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4480560" cy="457200"/>
          </a:xfrm>
          <a:prstGeom prst="roundRect">
            <a:avLst/>
          </a:prstGeom>
          <a:solidFill>
            <a:srgbClr val="3A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Instruction Pipeline: I-cache -&gt; Decode -&gt; Dispatch -&gt; Rename -&gt; Issue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2011680" cy="411480"/>
          </a:xfrm>
          <a:prstGeom prst="round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L1 I-Cache (32 KB)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3566160"/>
            <a:ext cx="2286000" cy="411480"/>
          </a:xfrm>
          <a:prstGeom prst="round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L1 D-Cache (48 KB)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4480560" cy="365760"/>
          </a:xfrm>
          <a:prstGeom prst="round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L2 Cache (256 KB - 1 MB, exclusive to core)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640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Energy Equations at 7nm: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96011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A86C8"/>
                </a:solidFill>
                <a:latin typeface="Calibri"/>
              </a:defRPr>
            </a:pPr>
            <a:r>
              <a:t>Scalar (1 op/instr):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188719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1">
                <a:solidFill>
                  <a:srgbClr val="FFFFFF"/>
                </a:solidFill>
                <a:latin typeface="Consolas"/>
              </a:defRPr>
            </a:pPr>
            <a:r>
              <a:t>E = E_ifetch + E_decode + 2*E_rf_read + E_alu + E_rf_write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999999"/>
                </a:solidFill>
                <a:latin typeface="Consolas"/>
              </a:defRPr>
            </a:pPr>
            <a:r>
              <a:t>  = 0.540 + 0.288 + 2*1.013 + 1.800 + 1.215</a:t>
            </a:r>
          </a:p>
          <a:p>
            <a:pPr algn="l">
              <a:spcAft>
                <a:spcPts val="399"/>
              </a:spcAft>
              <a:defRPr sz="1000" b="1">
                <a:solidFill>
                  <a:srgbClr val="FF8C00"/>
                </a:solidFill>
                <a:latin typeface="Consolas"/>
              </a:defRPr>
            </a:pPr>
            <a:r>
              <a:t>  = 5.868 pJ (overhead) + 1.800 pJ (ALU) = 7.668 pJ/op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onsolas"/>
              </a:defRPr>
            </a:pPr>
            <a:r>
              <a:t>  x2 instructions per FMA = 9.936 pJ/op  |  Eff: 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286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A86C8"/>
                </a:solidFill>
                <a:latin typeface="Calibri"/>
              </a:defRPr>
            </a:pPr>
            <a:r>
              <a:t>AVX-512 (16 ops/instr):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514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1">
                <a:solidFill>
                  <a:srgbClr val="FFFFFF"/>
                </a:solidFill>
                <a:latin typeface="Consolas"/>
              </a:defRPr>
            </a:pPr>
            <a:r>
              <a:t>E = (E_ifetch + E_decode + 2*E_vrf_read + E_vrf_write)/16 + E_alu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999999"/>
                </a:solidFill>
                <a:latin typeface="Consolas"/>
              </a:defRPr>
            </a:pPr>
            <a:r>
              <a:t>  = (0.540 + 0.288 + 2*1.013 + 1.215) / 16  +  1.800</a:t>
            </a:r>
          </a:p>
          <a:p>
            <a:pPr algn="l">
              <a:spcAft>
                <a:spcPts val="399"/>
              </a:spcAft>
              <a:defRPr sz="1000" b="1">
                <a:solidFill>
                  <a:srgbClr val="2ECC71"/>
                </a:solidFill>
                <a:latin typeface="Consolas"/>
              </a:defRPr>
            </a:pPr>
            <a:r>
              <a:t>  = 0.254 pJ (overhead) + 1.800 pJ (ALU) = 2.054 pJ/op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onsolas"/>
              </a:defRPr>
            </a:pPr>
            <a:r>
              <a:t>  x2 instructions per FMA / 16 = 2.309 pJ/op  |  Eff: 78%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3840480"/>
            <a:ext cx="5486400" cy="0"/>
          </a:xfrm>
          <a:prstGeom prst="line">
            <a:avLst/>
          </a:prstGeom>
          <a:ln w="19050">
            <a:solidFill>
              <a:srgbClr val="3A8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0" y="3931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1">
                <a:solidFill>
                  <a:srgbClr val="3A86C8"/>
                </a:solidFill>
                <a:latin typeface="Calibri"/>
              </a:defRPr>
            </a:pPr>
            <a:r>
              <a:t>CPU RF is SMALL (~1-2 KB) and PRIVATE: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* Multi-ported but only 2R+1W per cycle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* No bank conflicts (only 1 thread using it)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* No operand collector (data immediately available)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* SIMD amortizes the overhead over 16 lanes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CPU RF is a solved problem at ~1-2 KB.</a:t>
            </a:r>
          </a:p>
          <a:p>
            <a:pPr algn="l">
              <a:spcAft>
                <a:spcPts val="439"/>
              </a:spcAft>
              <a:defRPr sz="1100" b="1">
                <a:solidFill>
                  <a:srgbClr val="FF8C00"/>
                </a:solidFill>
                <a:latin typeface="Calibri"/>
              </a:defRPr>
            </a:pPr>
            <a:r>
              <a:t>The GPU scales this to 256 KB -- that changes everything.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1264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Granularity: 1 core  |  RF: 1-2 KB private  |  1 scalar + 1 SIMD ALU  |  Private L1i + L1d + L2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GPU SM: 256 KB Banked SRAM Register File + Delivery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4D8"/>
                </a:solidFill>
                <a:latin typeface="Calibri"/>
              </a:defRPr>
            </a:pPr>
            <a:r>
              <a:t>The register file IS the SM. Everything else exists to feed it or be fed by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5303520" cy="3017520"/>
          </a:xfrm>
          <a:prstGeom prst="rect">
            <a:avLst/>
          </a:prstGeom>
          <a:solidFill>
            <a:srgbClr val="1E1E38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503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C5CE7"/>
                </a:solidFill>
                <a:latin typeface="Calibri"/>
              </a:defRPr>
            </a:pPr>
            <a:r>
              <a:t>Register File: 64K x 32-bit = 256 KB Banked SRAM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79" y="118872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0</a:t>
            </a:r>
            <a:br/>
            <a:r>
              <a:t>2K regs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118872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1</a:t>
            </a:r>
            <a:br/>
            <a:r>
              <a:t>2K regs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39" y="118872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2</a:t>
            </a:r>
            <a:br/>
            <a:r>
              <a:t>2K regs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18872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3</a:t>
            </a:r>
            <a:br/>
            <a:r>
              <a:t>2K regs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18872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4</a:t>
            </a:r>
            <a:br/>
            <a:r>
              <a:t>2K regs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18872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5</a:t>
            </a:r>
            <a:br/>
            <a:r>
              <a:t>2K regs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8872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6</a:t>
            </a:r>
            <a:br/>
            <a:r>
              <a:t>2K regs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18872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7</a:t>
            </a:r>
            <a:br/>
            <a:r>
              <a:t>2K regs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155448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8</a:t>
            </a:r>
            <a:br/>
            <a:r>
              <a:t>2K regs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155448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9</a:t>
            </a:r>
            <a:br/>
            <a:r>
              <a:t>2K regs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39" y="155448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10</a:t>
            </a:r>
            <a:br/>
            <a:r>
              <a:t>2K regs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155448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11</a:t>
            </a:r>
            <a:br/>
            <a:r>
              <a:t>2K regs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155448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12</a:t>
            </a:r>
            <a:br/>
            <a:r>
              <a:t>2K regs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155448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13</a:t>
            </a:r>
            <a:br/>
            <a:r>
              <a:t>2K regs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155448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14</a:t>
            </a:r>
            <a:br/>
            <a:r>
              <a:t>2K regs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155448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15</a:t>
            </a:r>
            <a:br/>
            <a:r>
              <a:t>2K regs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79" y="192024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16</a:t>
            </a:r>
            <a:br/>
            <a:r>
              <a:t>2K regs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192024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17</a:t>
            </a:r>
            <a:br/>
            <a:r>
              <a:t>2K regs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39" y="192024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18</a:t>
            </a:r>
            <a:br/>
            <a:r>
              <a:t>2K regs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192024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19</a:t>
            </a:r>
            <a:br/>
            <a:r>
              <a:t>2K regs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192024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20</a:t>
            </a:r>
            <a:br/>
            <a:r>
              <a:t>2K regs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192024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21</a:t>
            </a:r>
            <a:br/>
            <a:r>
              <a:t>2K regs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59" y="192024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22</a:t>
            </a:r>
            <a:br/>
            <a:r>
              <a:t>2K regs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192024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23</a:t>
            </a:r>
            <a:br/>
            <a:r>
              <a:t>2K regs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79" y="228600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24</a:t>
            </a:r>
            <a:br/>
            <a:r>
              <a:t>2K regs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" y="228600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25</a:t>
            </a:r>
            <a:br/>
            <a:r>
              <a:t>2K regs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91639" y="228600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26</a:t>
            </a:r>
            <a:br/>
            <a:r>
              <a:t>2K regs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228600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27</a:t>
            </a:r>
            <a:br/>
            <a:r>
              <a:t>2K regs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71800" y="228600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28</a:t>
            </a:r>
            <a:br/>
            <a:r>
              <a:t>2K regs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1880" y="228600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29</a:t>
            </a:r>
            <a:br/>
            <a:r>
              <a:t>2K regs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59" y="228600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30</a:t>
            </a:r>
            <a:br/>
            <a:r>
              <a:t>2K regs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2286000"/>
            <a:ext cx="566928" cy="292608"/>
          </a:xfrm>
          <a:prstGeom prst="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0">
                <a:solidFill>
                  <a:srgbClr val="FFFFFF"/>
                </a:solidFill>
              </a:defRPr>
            </a:pPr>
            <a:r>
              <a:t>Bank 31</a:t>
            </a:r>
            <a:br/>
            <a:r>
              <a:t>2K regs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2697479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3C623"/>
                </a:solidFill>
                <a:latin typeface="Calibri"/>
              </a:defRPr>
            </a:pPr>
            <a:r>
              <a:t>32 banks  |  2048 regs/bank  |  8 KB SRAM per bank  |  All banks active every cycle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2971800"/>
            <a:ext cx="2377440" cy="320040"/>
          </a:xfrm>
          <a:prstGeom prst="roundRect">
            <a:avLst/>
          </a:prstGeom>
          <a:solidFill>
            <a:srgbClr val="F3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Operand Collector (x4)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34639" y="2971800"/>
            <a:ext cx="2560320" cy="320040"/>
          </a:xfrm>
          <a:prstGeom prst="roundRect">
            <a:avLst/>
          </a:prstGeom>
          <a:solidFill>
            <a:srgbClr val="CC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32-wide Crossbar + Bank Arb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2834639" y="3291840"/>
            <a:ext cx="182880" cy="13716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65760" y="3474720"/>
            <a:ext cx="5029200" cy="2743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128 CUDA Cores + 4 TensorCores (shared across 4 partitions)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Why 256 KB? The Latency-Hiding Requirement: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11430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Thread concurrency hides memory latency: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HBM access: ~400 cycles at 1.5 GHz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To hide this: need ~32 warps ready to execute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Each warp: 32 threads x 32 registers x 4 bytes = 4 KB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Total: 32 warps x 4 KB = 128 KB minimum</a:t>
            </a:r>
          </a:p>
          <a:p>
            <a:pPr algn="l">
              <a:spcAft>
                <a:spcPts val="439"/>
              </a:spcAft>
              <a:defRPr sz="1100" b="1">
                <a:solidFill>
                  <a:srgbClr val="F3C623"/>
                </a:solidFill>
                <a:latin typeface="Calibri"/>
              </a:defRPr>
            </a:pPr>
            <a:r>
              <a:t>  Actual: 64 warps x 4 KB = 256 KB (headroom)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100" b="1">
                <a:solidFill>
                  <a:srgbClr val="FF8C00"/>
                </a:solidFill>
                <a:latin typeface="Calibri"/>
              </a:defRPr>
            </a:pPr>
            <a:r>
              <a:t>This is NOT a design choice -- it is a REQUIREMENT.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Fewer registers = fewer resident threads = exposed latency = stalls.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The GPU MUST have 256 KB of fast, banked SRAM to function.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943600" y="3383279"/>
            <a:ext cx="5486400" cy="0"/>
          </a:xfrm>
          <a:prstGeom prst="line">
            <a:avLst/>
          </a:prstGeom>
          <a:ln w="12700">
            <a:solidFill>
              <a:srgbClr val="6C5C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943600" y="3474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5CE7"/>
                </a:solidFill>
                <a:latin typeface="Calibri"/>
              </a:defRPr>
            </a:pPr>
            <a:r>
              <a:t>Infrastructure Required to Serve 256 KB RF: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3749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87DB3"/>
                </a:solidFill>
                <a:latin typeface="Calibri"/>
              </a:defRPr>
            </a:pPr>
            <a:r>
              <a:t>32 SRAM banks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3749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8"/>
                </a:solidFill>
                <a:latin typeface="Calibri"/>
              </a:defRPr>
            </a:pPr>
            <a:r>
              <a:t>Parallel access for 32 threads per warp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40050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87DB3"/>
                </a:solidFill>
                <a:latin typeface="Calibri"/>
              </a:defRPr>
            </a:pPr>
            <a:r>
              <a:t>Bank arbitration logic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0050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8"/>
                </a:solidFill>
                <a:latin typeface="Calibri"/>
              </a:defRPr>
            </a:pPr>
            <a:r>
              <a:t>Resolve conflicts when 2+ warps access same bank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42611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9623"/>
                </a:solidFill>
                <a:latin typeface="Calibri"/>
              </a:defRPr>
            </a:pPr>
            <a:r>
              <a:t>4 Operand collectors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426110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8"/>
                </a:solidFill>
                <a:latin typeface="Calibri"/>
              </a:defRPr>
            </a:pPr>
            <a:r>
              <a:t>Buffer partially-read operands until all 32 are ready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45171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5577"/>
                </a:solidFill>
                <a:latin typeface="Calibri"/>
              </a:defRPr>
            </a:pPr>
            <a:r>
              <a:t>32-wide crossbar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451713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8"/>
                </a:solidFill>
                <a:latin typeface="Calibri"/>
              </a:defRPr>
            </a:pPr>
            <a:r>
              <a:t>Route operands from any bank to any ALU lane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47731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4 Warp schedulers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7731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8"/>
                </a:solidFill>
                <a:latin typeface="Calibri"/>
              </a:defRPr>
            </a:pPr>
            <a:r>
              <a:t>Select which of 16 warps to issue each cycle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50292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04040"/>
                </a:solidFill>
                <a:latin typeface="Calibri"/>
              </a:defRPr>
            </a:pPr>
            <a:r>
              <a:t>4 Scoreboards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5029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8E8E8"/>
                </a:solidFill>
                <a:latin typeface="Calibri"/>
              </a:defRPr>
            </a:pPr>
            <a:r>
              <a:t>Track RAW/WAW/WAR hazards across all active warps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6035040"/>
            <a:ext cx="10972800" cy="64008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0807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1">
                <a:solidFill>
                  <a:srgbClr val="FF8C00"/>
                </a:solidFill>
                <a:latin typeface="Calibri"/>
              </a:defRPr>
            </a:pPr>
            <a:r>
              <a:t>The GPU cannot shrink or remove the register file. It is the latency-hiding mechanism.</a:t>
            </a:r>
          </a:p>
          <a:p>
            <a:pPr algn="ctr">
              <a:spcAft>
                <a:spcPts val="479"/>
              </a:spcAft>
              <a:defRPr sz="1200" b="0">
                <a:solidFill>
                  <a:srgbClr val="E8E8E8"/>
                </a:solidFill>
                <a:latin typeface="Calibri"/>
              </a:defRPr>
            </a:pPr>
            <a:r>
              <a:t>Every component above (banks, arbitration, collectors, crossbar, schedulers, scoreboards) exists</a:t>
            </a:r>
          </a:p>
          <a:p>
            <a:pPr algn="ctr">
              <a:spcAft>
                <a:spcPts val="479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solely to serve this 256 KB SRAM. This is the architecture the TPU and KPU eliminate.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TPU / KPU: Distributed PE-Local Registers Replace Shared SRAM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4D8"/>
                </a:solidFill>
                <a:latin typeface="Calibri"/>
              </a:defRPr>
            </a:pPr>
            <a:r>
              <a:t>The spatial schedule eliminates resource conflicts -- each PE owns its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5486400" cy="3200400"/>
          </a:xfrm>
          <a:prstGeom prst="rect">
            <a:avLst/>
          </a:prstGeom>
          <a:solidFill>
            <a:srgbClr val="22223E"/>
          </a:solidFill>
          <a:ln w="19050">
            <a:solidFill>
              <a:srgbClr val="DD8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503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D8833"/>
                </a:solidFill>
                <a:latin typeface="Calibri"/>
              </a:defRPr>
            </a:pPr>
            <a:r>
              <a:t>TPU: 128x128 Systolic Array (Weight-Stationary)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120640" cy="1280160"/>
          </a:xfrm>
          <a:prstGeom prst="rect">
            <a:avLst/>
          </a:prstGeom>
          <a:solidFill>
            <a:srgbClr val="1E2E3E"/>
          </a:solidFill>
          <a:ln w="19050">
            <a:solidFill>
              <a:srgbClr val="DD8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0" cy="1005840"/>
          </a:xfrm>
          <a:prstGeom prst="rect">
            <a:avLst/>
          </a:prstGeom>
          <a:solidFill>
            <a:srgbClr val="3A5A3A"/>
          </a:solidFill>
          <a:ln w="19050">
            <a:solidFill>
              <a:srgbClr val="DD8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44168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DD8833"/>
                </a:solidFill>
                <a:latin typeface="Calibri"/>
              </a:defRPr>
            </a:pPr>
            <a:r>
              <a:t>PE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548640" cy="182880"/>
          </a:xfrm>
          <a:prstGeom prst="rect">
            <a:avLst/>
          </a:prstGeom>
          <a:solidFill>
            <a:srgbClr val="AA6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W reg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737360"/>
            <a:ext cx="54864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65960"/>
            <a:ext cx="548640" cy="182880"/>
          </a:xfrm>
          <a:prstGeom prst="rect">
            <a:avLst/>
          </a:prstGeom>
          <a:solidFill>
            <a:srgbClr val="8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Accum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280160" y="1810512"/>
            <a:ext cx="137160" cy="91440"/>
          </a:xfrm>
          <a:prstGeom prst="rightArrow">
            <a:avLst/>
          </a:prstGeom>
          <a:solidFill>
            <a:srgbClr val="DD8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19" y="1325880"/>
            <a:ext cx="640080" cy="1005840"/>
          </a:xfrm>
          <a:prstGeom prst="rect">
            <a:avLst/>
          </a:prstGeom>
          <a:solidFill>
            <a:srgbClr val="3A5A3A"/>
          </a:solidFill>
          <a:ln w="19050">
            <a:solidFill>
              <a:srgbClr val="DD8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1344168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DD8833"/>
                </a:solidFill>
                <a:latin typeface="Calibri"/>
              </a:defRPr>
            </a:pPr>
            <a:r>
              <a:t>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39" y="1508760"/>
            <a:ext cx="548640" cy="182880"/>
          </a:xfrm>
          <a:prstGeom prst="rect">
            <a:avLst/>
          </a:prstGeom>
          <a:solidFill>
            <a:srgbClr val="AA6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W reg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39" y="1737360"/>
            <a:ext cx="54864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39" y="1965960"/>
            <a:ext cx="548640" cy="182880"/>
          </a:xfrm>
          <a:prstGeom prst="rect">
            <a:avLst/>
          </a:prstGeom>
          <a:solidFill>
            <a:srgbClr val="8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Accum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057400" y="1810512"/>
            <a:ext cx="137160" cy="91440"/>
          </a:xfrm>
          <a:prstGeom prst="rightArrow">
            <a:avLst/>
          </a:prstGeom>
          <a:solidFill>
            <a:srgbClr val="DD8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94560" y="1325880"/>
            <a:ext cx="640080" cy="1005840"/>
          </a:xfrm>
          <a:prstGeom prst="rect">
            <a:avLst/>
          </a:prstGeom>
          <a:solidFill>
            <a:srgbClr val="3A5A3A"/>
          </a:solidFill>
          <a:ln w="19050">
            <a:solidFill>
              <a:srgbClr val="DD8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1344168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DD8833"/>
                </a:solidFill>
                <a:latin typeface="Calibri"/>
              </a:defRPr>
            </a:pPr>
            <a:r>
              <a:t>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79" y="1508760"/>
            <a:ext cx="548640" cy="182880"/>
          </a:xfrm>
          <a:prstGeom prst="rect">
            <a:avLst/>
          </a:prstGeom>
          <a:solidFill>
            <a:srgbClr val="AA6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W reg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1737360"/>
            <a:ext cx="54864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0279" y="1965960"/>
            <a:ext cx="548640" cy="182880"/>
          </a:xfrm>
          <a:prstGeom prst="rect">
            <a:avLst/>
          </a:prstGeom>
          <a:solidFill>
            <a:srgbClr val="8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Accum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834639" y="1810512"/>
            <a:ext cx="137160" cy="91440"/>
          </a:xfrm>
          <a:prstGeom prst="rightArrow">
            <a:avLst/>
          </a:prstGeom>
          <a:solidFill>
            <a:srgbClr val="DD8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1325880"/>
            <a:ext cx="640080" cy="1005840"/>
          </a:xfrm>
          <a:prstGeom prst="rect">
            <a:avLst/>
          </a:prstGeom>
          <a:solidFill>
            <a:srgbClr val="3A5A3A"/>
          </a:solidFill>
          <a:ln w="19050">
            <a:solidFill>
              <a:srgbClr val="DD8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1344168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DD8833"/>
                </a:solidFill>
                <a:latin typeface="Calibri"/>
              </a:defRPr>
            </a:pPr>
            <a:r>
              <a:t>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1508760"/>
            <a:ext cx="548640" cy="182880"/>
          </a:xfrm>
          <a:prstGeom prst="rect">
            <a:avLst/>
          </a:prstGeom>
          <a:solidFill>
            <a:srgbClr val="AA6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W reg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737360"/>
            <a:ext cx="54864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65960"/>
            <a:ext cx="548640" cy="182880"/>
          </a:xfrm>
          <a:prstGeom prst="rect">
            <a:avLst/>
          </a:prstGeom>
          <a:solidFill>
            <a:srgbClr val="8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Accum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611880" y="1810512"/>
            <a:ext cx="137160" cy="91440"/>
          </a:xfrm>
          <a:prstGeom prst="rightArrow">
            <a:avLst/>
          </a:prstGeom>
          <a:solidFill>
            <a:srgbClr val="DD8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49039" y="1325880"/>
            <a:ext cx="640080" cy="1005840"/>
          </a:xfrm>
          <a:prstGeom prst="rect">
            <a:avLst/>
          </a:prstGeom>
          <a:solidFill>
            <a:srgbClr val="3A5A3A"/>
          </a:solidFill>
          <a:ln w="19050">
            <a:solidFill>
              <a:srgbClr val="DD8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39" y="1344168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DD8833"/>
                </a:solidFill>
                <a:latin typeface="Calibri"/>
              </a:defRPr>
            </a:pPr>
            <a:r>
              <a:t>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94759" y="1508760"/>
            <a:ext cx="548640" cy="182880"/>
          </a:xfrm>
          <a:prstGeom prst="rect">
            <a:avLst/>
          </a:prstGeom>
          <a:solidFill>
            <a:srgbClr val="AA6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W reg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59" y="1737360"/>
            <a:ext cx="54864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94759" y="1965960"/>
            <a:ext cx="548640" cy="182880"/>
          </a:xfrm>
          <a:prstGeom prst="rect">
            <a:avLst/>
          </a:prstGeom>
          <a:solidFill>
            <a:srgbClr val="8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Accum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4389120" y="1810512"/>
            <a:ext cx="137160" cy="91440"/>
          </a:xfrm>
          <a:prstGeom prst="rightArrow">
            <a:avLst/>
          </a:prstGeom>
          <a:solidFill>
            <a:srgbClr val="DD8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26280" y="1325880"/>
            <a:ext cx="640080" cy="1005840"/>
          </a:xfrm>
          <a:prstGeom prst="rect">
            <a:avLst/>
          </a:prstGeom>
          <a:solidFill>
            <a:srgbClr val="3A5A3A"/>
          </a:solidFill>
          <a:ln w="19050">
            <a:solidFill>
              <a:srgbClr val="DD8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1344168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DD8833"/>
                </a:solidFill>
                <a:latin typeface="Calibri"/>
              </a:defRPr>
            </a:pPr>
            <a:r>
              <a:t>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1508760"/>
            <a:ext cx="548640" cy="182880"/>
          </a:xfrm>
          <a:prstGeom prst="rect">
            <a:avLst/>
          </a:prstGeom>
          <a:solidFill>
            <a:srgbClr val="AA6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W reg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1737360"/>
            <a:ext cx="54864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1965960"/>
            <a:ext cx="548640" cy="182880"/>
          </a:xfrm>
          <a:prstGeom prst="rect">
            <a:avLst/>
          </a:prstGeom>
          <a:solidFill>
            <a:srgbClr val="8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Accum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25603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Calibri"/>
              </a:defRPr>
            </a:pPr>
            <a:r>
              <a:t>Inputs stream left-to-right  |  Partial sums flow top-to-bottom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28346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1">
                <a:solidFill>
                  <a:srgbClr val="DD8833"/>
                </a:solidFill>
                <a:latin typeface="Calibri"/>
              </a:defRPr>
            </a:pPr>
            <a:r>
              <a:t>Total storage: 16,384 PEs x 2 regs x 32b = 128 KB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But: each register is a LOCAL latch inside its PE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* No address decode (hardwired)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* No bank arbitration (no sharing)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* No operand collector (data already local)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* No crossbar (PE-to-PE wire, compile-time routed)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* Weight-stationary: W loaded once, reused 128+ times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822960"/>
            <a:ext cx="5486400" cy="3200400"/>
          </a:xfrm>
          <a:prstGeom prst="rect">
            <a:avLst/>
          </a:prstGeom>
          <a:solidFill>
            <a:srgbClr val="2222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8503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D6"/>
                </a:solidFill>
                <a:latin typeface="Calibri"/>
              </a:defRPr>
            </a:pPr>
            <a:r>
              <a:t>KPU: 16x16 PE Array (Programmable Domain Flow)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1188720"/>
            <a:ext cx="5120640" cy="1280160"/>
          </a:xfrm>
          <a:prstGeom prst="rect">
            <a:avLst/>
          </a:prstGeom>
          <a:solidFill>
            <a:srgbClr val="1E2E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92240" y="1325880"/>
            <a:ext cx="640080" cy="1005840"/>
          </a:xfrm>
          <a:prstGeom prst="rect">
            <a:avLst/>
          </a:prstGeom>
          <a:solidFill>
            <a:srgbClr val="2A4A5A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1344168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96D6"/>
                </a:solidFill>
                <a:latin typeface="Calibri"/>
              </a:defRPr>
            </a:pPr>
            <a:r>
              <a:t>PE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37960" y="1508760"/>
            <a:ext cx="256032" cy="182880"/>
          </a:xfrm>
          <a:prstGeom prst="rect">
            <a:avLst/>
          </a:prstGeom>
          <a:solidFill>
            <a:srgbClr val="448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30568" y="1508760"/>
            <a:ext cx="256032" cy="182880"/>
          </a:xfrm>
          <a:prstGeom prst="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7960" y="1737360"/>
            <a:ext cx="54864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1965960"/>
            <a:ext cx="365760" cy="182880"/>
          </a:xfrm>
          <a:prstGeom prst="rect">
            <a:avLst/>
          </a:prstGeom>
          <a:solidFill>
            <a:srgbClr val="66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132320" y="1600200"/>
            <a:ext cx="137160" cy="0"/>
          </a:xfrm>
          <a:prstGeom prst="line">
            <a:avLst/>
          </a:prstGeom>
          <a:ln w="12700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132320" y="2057400"/>
            <a:ext cx="137160" cy="0"/>
          </a:xfrm>
          <a:prstGeom prst="line">
            <a:avLst/>
          </a:prstGeom>
          <a:ln w="12700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7269480" y="1325880"/>
            <a:ext cx="640080" cy="1005840"/>
          </a:xfrm>
          <a:prstGeom prst="rect">
            <a:avLst/>
          </a:prstGeom>
          <a:solidFill>
            <a:srgbClr val="2A4A5A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69480" y="1344168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96D6"/>
                </a:solidFill>
                <a:latin typeface="Calibri"/>
              </a:defRPr>
            </a:pPr>
            <a:r>
              <a:t>PE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0" y="1508760"/>
            <a:ext cx="256032" cy="182880"/>
          </a:xfrm>
          <a:prstGeom prst="rect">
            <a:avLst/>
          </a:prstGeom>
          <a:solidFill>
            <a:srgbClr val="448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07808" y="1508760"/>
            <a:ext cx="256032" cy="182880"/>
          </a:xfrm>
          <a:prstGeom prst="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0" y="1737360"/>
            <a:ext cx="54864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1965960"/>
            <a:ext cx="365760" cy="182880"/>
          </a:xfrm>
          <a:prstGeom prst="rect">
            <a:avLst/>
          </a:prstGeom>
          <a:solidFill>
            <a:srgbClr val="66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909560" y="1600200"/>
            <a:ext cx="137160" cy="0"/>
          </a:xfrm>
          <a:prstGeom prst="line">
            <a:avLst/>
          </a:prstGeom>
          <a:ln w="12700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909560" y="2057400"/>
            <a:ext cx="137160" cy="0"/>
          </a:xfrm>
          <a:prstGeom prst="line">
            <a:avLst/>
          </a:prstGeom>
          <a:ln w="12700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8046720" y="1325880"/>
            <a:ext cx="640080" cy="1005840"/>
          </a:xfrm>
          <a:prstGeom prst="rect">
            <a:avLst/>
          </a:prstGeom>
          <a:solidFill>
            <a:srgbClr val="2A4A5A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46720" y="1344168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96D6"/>
                </a:solidFill>
                <a:latin typeface="Calibri"/>
              </a:defRPr>
            </a:pPr>
            <a:r>
              <a:t>PE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92440" y="1508760"/>
            <a:ext cx="256032" cy="182880"/>
          </a:xfrm>
          <a:prstGeom prst="rect">
            <a:avLst/>
          </a:prstGeom>
          <a:solidFill>
            <a:srgbClr val="448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85048" y="1508760"/>
            <a:ext cx="256032" cy="182880"/>
          </a:xfrm>
          <a:prstGeom prst="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92440" y="1737360"/>
            <a:ext cx="54864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83880" y="1965960"/>
            <a:ext cx="365760" cy="182880"/>
          </a:xfrm>
          <a:prstGeom prst="rect">
            <a:avLst/>
          </a:prstGeom>
          <a:solidFill>
            <a:srgbClr val="66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8686800" y="1600200"/>
            <a:ext cx="137160" cy="0"/>
          </a:xfrm>
          <a:prstGeom prst="line">
            <a:avLst/>
          </a:prstGeom>
          <a:ln w="12700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686800" y="2057400"/>
            <a:ext cx="137160" cy="0"/>
          </a:xfrm>
          <a:prstGeom prst="line">
            <a:avLst/>
          </a:prstGeom>
          <a:ln w="12700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8823960" y="1325880"/>
            <a:ext cx="640080" cy="1005840"/>
          </a:xfrm>
          <a:prstGeom prst="rect">
            <a:avLst/>
          </a:prstGeom>
          <a:solidFill>
            <a:srgbClr val="2A4A5A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823960" y="1344168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96D6"/>
                </a:solidFill>
                <a:latin typeface="Calibri"/>
              </a:defRPr>
            </a:pPr>
            <a:r>
              <a:t>PE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69680" y="1508760"/>
            <a:ext cx="256032" cy="182880"/>
          </a:xfrm>
          <a:prstGeom prst="rect">
            <a:avLst/>
          </a:prstGeom>
          <a:solidFill>
            <a:srgbClr val="448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62288" y="1508760"/>
            <a:ext cx="256032" cy="182880"/>
          </a:xfrm>
          <a:prstGeom prst="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69680" y="1737360"/>
            <a:ext cx="54864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61120" y="1965960"/>
            <a:ext cx="365760" cy="182880"/>
          </a:xfrm>
          <a:prstGeom prst="rect">
            <a:avLst/>
          </a:prstGeom>
          <a:solidFill>
            <a:srgbClr val="66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464040" y="1600200"/>
            <a:ext cx="137160" cy="0"/>
          </a:xfrm>
          <a:prstGeom prst="line">
            <a:avLst/>
          </a:prstGeom>
          <a:ln w="12700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464040" y="2057400"/>
            <a:ext cx="137160" cy="0"/>
          </a:xfrm>
          <a:prstGeom prst="line">
            <a:avLst/>
          </a:prstGeom>
          <a:ln w="12700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9601200" y="1325880"/>
            <a:ext cx="640080" cy="1005840"/>
          </a:xfrm>
          <a:prstGeom prst="rect">
            <a:avLst/>
          </a:prstGeom>
          <a:solidFill>
            <a:srgbClr val="2A4A5A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01200" y="1344168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96D6"/>
                </a:solidFill>
                <a:latin typeface="Calibri"/>
              </a:defRPr>
            </a:pPr>
            <a:r>
              <a:t>PE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646920" y="1508760"/>
            <a:ext cx="256032" cy="182880"/>
          </a:xfrm>
          <a:prstGeom prst="rect">
            <a:avLst/>
          </a:prstGeom>
          <a:solidFill>
            <a:srgbClr val="448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39528" y="1508760"/>
            <a:ext cx="256032" cy="182880"/>
          </a:xfrm>
          <a:prstGeom prst="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646920" y="1737360"/>
            <a:ext cx="54864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738360" y="1965960"/>
            <a:ext cx="365760" cy="182880"/>
          </a:xfrm>
          <a:prstGeom prst="rect">
            <a:avLst/>
          </a:prstGeom>
          <a:solidFill>
            <a:srgbClr val="66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0241280" y="1600200"/>
            <a:ext cx="137160" cy="0"/>
          </a:xfrm>
          <a:prstGeom prst="line">
            <a:avLst/>
          </a:prstGeom>
          <a:ln w="12700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241280" y="2057400"/>
            <a:ext cx="137160" cy="0"/>
          </a:xfrm>
          <a:prstGeom prst="line">
            <a:avLst/>
          </a:prstGeom>
          <a:ln w="12700">
            <a:solidFill>
              <a:srgbClr val="00C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10378440" y="1325880"/>
            <a:ext cx="640080" cy="1005840"/>
          </a:xfrm>
          <a:prstGeom prst="rect">
            <a:avLst/>
          </a:prstGeom>
          <a:solidFill>
            <a:srgbClr val="2A4A5A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378440" y="1344168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96D6"/>
                </a:solidFill>
                <a:latin typeface="Calibri"/>
              </a:defRPr>
            </a:pPr>
            <a:r>
              <a:t>PE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424160" y="1508760"/>
            <a:ext cx="256032" cy="182880"/>
          </a:xfrm>
          <a:prstGeom prst="rect">
            <a:avLst/>
          </a:prstGeom>
          <a:solidFill>
            <a:srgbClr val="448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716768" y="1508760"/>
            <a:ext cx="256032" cy="182880"/>
          </a:xfrm>
          <a:prstGeom prst="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24160" y="1737360"/>
            <a:ext cx="54864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MAC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15600" y="1965960"/>
            <a:ext cx="365760" cy="182880"/>
          </a:xfrm>
          <a:prstGeom prst="rect">
            <a:avLst/>
          </a:prstGeom>
          <a:solidFill>
            <a:srgbClr val="66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09360" y="25603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CC88"/>
                </a:solidFill>
                <a:latin typeface="Calibri"/>
              </a:defRPr>
            </a:pPr>
            <a:r>
              <a:t>SURE network: compile-time routed wires between PEs (~0.02 pJ/transfer)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09360" y="28346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1">
                <a:solidFill>
                  <a:srgbClr val="0096D6"/>
                </a:solidFill>
                <a:latin typeface="Calibri"/>
              </a:defRPr>
            </a:pPr>
            <a:r>
              <a:t>Total storage: 256 PEs x 4 regs x 32b = 4 KB per tile</a:t>
            </a:r>
          </a:p>
          <a:p>
            <a:pPr algn="l">
              <a:spcAft>
                <a:spcPts val="399"/>
              </a:spcAft>
              <a:defRPr sz="1000" b="1">
                <a:solidFill>
                  <a:srgbClr val="F3C623"/>
                </a:solidFill>
                <a:latin typeface="Calibri"/>
              </a:defRPr>
            </a:pPr>
            <a:r>
              <a:t>64 tiles = 16,384 PEs x 4 regs = 256 KB total (same as GPU!)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But: each register is a LOCAL latch inside its PE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* Same benefits as TPU (no decode, no arbitration, ...)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* PLUS: programmable schedule (A/B/C-stationary)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* PLUS: any SURE recurrence equation, not just GEMM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* Smaller tile (256 MACs) = better utilization at batch=1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457200" y="4251960"/>
            <a:ext cx="10972800" cy="0"/>
          </a:xfrm>
          <a:prstGeom prst="line">
            <a:avLst/>
          </a:prstGeom>
          <a:ln w="2540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274320" y="43434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The Fundamental Difference: Shared SRAM vs Distributed Latches</a:t>
            </a:r>
          </a:p>
        </p:txBody>
      </p:sp>
      <p:graphicFrame>
        <p:nvGraphicFramePr>
          <p:cNvPr id="97" name="Table 96"/>
          <p:cNvGraphicFramePr>
            <a:graphicFrameLocks noGrp="1"/>
          </p:cNvGraphicFramePr>
          <p:nvPr/>
        </p:nvGraphicFramePr>
        <p:xfrm>
          <a:off x="457200" y="466344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28738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GPU SM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TPU Array</a:t>
                      </a:r>
                    </a:p>
                  </a:txBody>
                  <a:tcPr>
                    <a:solidFill>
                      <a:srgbClr val="DD88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KPU Tile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Total register storage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256 KB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128 KB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256 KB (64 tiles)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Storage structure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Centralized banked SRAM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PE-local latches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PE-local latches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Access mechanism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Address decode + bank arb</a:t>
                      </a:r>
                    </a:p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+ collector + crossbar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Spatial wiring</a:t>
                      </a:r>
                    </a:p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(weight-stationary)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SURE network</a:t>
                      </a:r>
                    </a:p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(compile-time routed)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Concurrent accessors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2048 threads (contention!)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16,384 PEs (no contention)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16,384 PEs (no contention)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Infrastructure needed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Scheduler, scoreboard,</a:t>
                      </a:r>
                    </a:p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collector, crossbar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Input/output buffers only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Streamer + L1 buffer only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28738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Can GPU copy this?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4040"/>
                          </a:solidFill>
                        </a:defRPr>
                      </a:pPr>
                      <a:r>
                        <a:t>NO (would require</a:t>
                      </a:r>
                    </a:p>
                    <a:p>
                      <a:pPr algn="ctr">
                        <a:defRPr sz="800" b="1">
                          <a:solidFill>
                            <a:srgbClr val="E04040"/>
                          </a:solidFill>
                        </a:defRPr>
                      </a:pPr>
                      <a:r>
                        <a:t>removing SIMT model)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E04040"/>
                          </a:solidFill>
                        </a:defRPr>
                      </a:pPr>
                      <a:r>
                        <a:t>NO (would require</a:t>
                      </a:r>
                    </a:p>
                    <a:p>
                      <a:pPr algn="ctr">
                        <a:defRPr sz="800" b="1">
                          <a:solidFill>
                            <a:srgbClr val="E04040"/>
                          </a:solidFill>
                        </a:defRPr>
                      </a:pPr>
                      <a:r>
                        <a:t>removing SIMT model)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Dynamic Energy: The Per-Operation Cost of Operand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4D8"/>
                </a:solidFill>
                <a:latin typeface="Calibri"/>
              </a:defRPr>
            </a:pPr>
            <a:r>
              <a:t>Same computation, different operand delivery -- all at 7nm, per FP32 MAC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GPU: Operand Delivery Chain (per warp instruction, CUDA path)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1051560" cy="5943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Warp</a:t>
            </a:r>
            <a:br/>
            <a:r>
              <a:t>Scheduler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099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8C00"/>
                </a:solidFill>
                <a:latin typeface="Calibri"/>
              </a:defRPr>
            </a:pPr>
            <a:r>
              <a:t>0.875 pJ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335024" y="1325880"/>
            <a:ext cx="91440" cy="10972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35608" y="1097280"/>
            <a:ext cx="1051560" cy="594360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Score-</a:t>
            </a:r>
            <a:br/>
            <a:r>
              <a:t>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17099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8C00"/>
                </a:solidFill>
                <a:latin typeface="Calibri"/>
              </a:defRPr>
            </a:pPr>
            <a:r>
              <a:t>0.525 pJ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96311" y="1325880"/>
            <a:ext cx="91440" cy="10972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96896" y="1097280"/>
            <a:ext cx="1051560" cy="594360"/>
          </a:xfrm>
          <a:prstGeom prst="round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Addr</a:t>
            </a:r>
            <a:br/>
            <a:r>
              <a:t>Gen x3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896" y="17099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8C00"/>
                </a:solidFill>
                <a:latin typeface="Calibri"/>
              </a:defRPr>
            </a:pPr>
            <a:r>
              <a:t>1.050 pJ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657599" y="1325880"/>
            <a:ext cx="91440" cy="10972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58184" y="1097280"/>
            <a:ext cx="1051560" cy="594360"/>
          </a:xfrm>
          <a:prstGeom prst="roundRect">
            <a:avLst/>
          </a:prstGeom>
          <a:solidFill>
            <a:srgbClr val="487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Bank</a:t>
            </a:r>
            <a:br/>
            <a:r>
              <a:t>Arbitr.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17099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8C00"/>
                </a:solidFill>
                <a:latin typeface="Calibri"/>
              </a:defRPr>
            </a:pPr>
            <a:r>
              <a:t>0.525 pJ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18888" y="1325880"/>
            <a:ext cx="91440" cy="10972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19472" y="1097280"/>
            <a:ext cx="1051560" cy="5943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SRAM</a:t>
            </a:r>
            <a:br/>
            <a:r>
              <a:t>Read x2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17099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8C00"/>
                </a:solidFill>
                <a:latin typeface="Calibri"/>
              </a:defRPr>
            </a:pPr>
            <a:r>
              <a:t>0.562 pJ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80175" y="1325880"/>
            <a:ext cx="91440" cy="10972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80759" y="1097280"/>
            <a:ext cx="1051560" cy="594360"/>
          </a:xfrm>
          <a:prstGeom prst="roundRect">
            <a:avLst/>
          </a:prstGeom>
          <a:solidFill>
            <a:srgbClr val="F3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Operand</a:t>
            </a:r>
            <a:br/>
            <a:r>
              <a:t>Collector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17099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8C00"/>
                </a:solidFill>
                <a:latin typeface="Calibri"/>
              </a:defRPr>
            </a:pPr>
            <a:r>
              <a:t>1.400 pJ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41463" y="1325880"/>
            <a:ext cx="91440" cy="10972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42048" y="1097280"/>
            <a:ext cx="1051560" cy="594360"/>
          </a:xfrm>
          <a:prstGeom prst="roundRect">
            <a:avLst/>
          </a:prstGeom>
          <a:solidFill>
            <a:srgbClr val="CC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Cross-</a:t>
            </a:r>
            <a:br/>
            <a:r>
              <a:t>bar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17099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8C00"/>
                </a:solidFill>
                <a:latin typeface="Calibri"/>
              </a:defRPr>
            </a:pPr>
            <a:r>
              <a:t>0.700 pJ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302752" y="1325880"/>
            <a:ext cx="91440" cy="10972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03336" y="1097280"/>
            <a:ext cx="1051560" cy="5943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ALU</a:t>
            </a:r>
            <a:br/>
            <a:r>
              <a:t>(32 MACs)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17099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ECC71"/>
                </a:solidFill>
                <a:latin typeface="Calibri"/>
              </a:defRPr>
            </a:pPr>
            <a:r>
              <a:t>1.530</a:t>
            </a:r>
            <a:br/>
            <a:r>
              <a:t>/op pJ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464040" y="1325880"/>
            <a:ext cx="91440" cy="109728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64624" y="1097280"/>
            <a:ext cx="1051560" cy="594360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Result</a:t>
            </a:r>
            <a:br/>
            <a:r>
              <a:t>Route+WB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4624" y="17099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8C00"/>
                </a:solidFill>
                <a:latin typeface="Calibri"/>
              </a:defRPr>
            </a:pPr>
            <a:r>
              <a:t>0.863 pJ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19202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6B900"/>
                </a:solidFill>
                <a:latin typeface="Consolas"/>
              </a:defRPr>
            </a:pPr>
            <a:r>
              <a:t>Overhead per warp: 6.500 pJ  |  Per MAC (/32): 0.203 pJ  |  ALU: 1.530 pJ  |  Total: 1.733 pJ/op  |  Eff: 88%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228600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D8833"/>
                </a:solidFill>
                <a:latin typeface="Calibri"/>
              </a:defRPr>
            </a:pPr>
            <a:r>
              <a:t>TPU: Operand Delivery (spatial, weight-stationary)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2560320"/>
            <a:ext cx="1051560" cy="505206"/>
          </a:xfrm>
          <a:prstGeom prst="roundRect">
            <a:avLst/>
          </a:prstGeom>
          <a:solidFill>
            <a:srgbClr val="55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Input</a:t>
            </a:r>
            <a:br/>
            <a:r>
              <a:t>Buffer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3083814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8E8E8"/>
                </a:solidFill>
                <a:latin typeface="Calibri"/>
              </a:defRPr>
            </a:pPr>
            <a:r>
              <a:t>0.300 pJ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417320" y="2788920"/>
            <a:ext cx="365760" cy="109728"/>
          </a:xfrm>
          <a:prstGeom prst="rightArrow">
            <a:avLst/>
          </a:prstGeom>
          <a:solidFill>
            <a:srgbClr val="DD8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874519" y="2560320"/>
            <a:ext cx="1051560" cy="505206"/>
          </a:xfrm>
          <a:prstGeom prst="round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PE wire</a:t>
            </a:r>
            <a:br/>
            <a:r>
              <a:t>(spatial)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3083814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8E8E8"/>
                </a:solidFill>
                <a:latin typeface="Calibri"/>
              </a:defRPr>
            </a:pPr>
            <a:r>
              <a:t>~0.05 pJ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017520" y="2788920"/>
            <a:ext cx="365760" cy="109728"/>
          </a:xfrm>
          <a:prstGeom prst="rightArrow">
            <a:avLst/>
          </a:prstGeom>
          <a:solidFill>
            <a:srgbClr val="DD8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474720" y="2560320"/>
            <a:ext cx="1051560" cy="505206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Systolic</a:t>
            </a:r>
            <a:br/>
            <a:r>
              <a:t>MAC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3083814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CC71"/>
                </a:solidFill>
                <a:latin typeface="Calibri"/>
              </a:defRPr>
            </a:pPr>
            <a:r>
              <a:t>1.440</a:t>
            </a:r>
            <a:br/>
            <a:r>
              <a:t>/op pJ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617719" y="2788920"/>
            <a:ext cx="365760" cy="109728"/>
          </a:xfrm>
          <a:prstGeom prst="rightArrow">
            <a:avLst/>
          </a:prstGeom>
          <a:solidFill>
            <a:srgbClr val="DD8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074920" y="2560320"/>
            <a:ext cx="1051560" cy="505206"/>
          </a:xfrm>
          <a:prstGeom prst="round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PE wire</a:t>
            </a:r>
            <a:br/>
            <a:r>
              <a:t>(drain)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3083814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8E8E8"/>
                </a:solidFill>
                <a:latin typeface="Calibri"/>
              </a:defRPr>
            </a:pPr>
            <a:r>
              <a:t>~0.01 pJ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2560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8833"/>
                </a:solidFill>
                <a:latin typeface="Calibri"/>
              </a:defRPr>
            </a:pPr>
            <a:r>
              <a:t>Overhead: ~0.36 pJ/op  |  Total: ~1.80 pJ/op  |  Eff: 80%</a:t>
            </a:r>
            <a:br/>
            <a:r>
              <a:t>No scheduler, no scoreboard, no collector, no crossbar.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34747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KPU: Operand Delivery (SURE network, compile-time routed)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3749039"/>
            <a:ext cx="1051560" cy="505206"/>
          </a:xfrm>
          <a:prstGeom prst="roundRect">
            <a:avLst/>
          </a:prstGeom>
          <a:solidFill>
            <a:srgbClr val="55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L1 Stream</a:t>
            </a:r>
            <a:br/>
            <a:r>
              <a:t>Buffer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4272534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8E8E8"/>
                </a:solidFill>
                <a:latin typeface="Calibri"/>
              </a:defRPr>
            </a:pPr>
            <a:r>
              <a:t>~0.01 pJ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1417320" y="3977639"/>
            <a:ext cx="365760" cy="109728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874519" y="3749039"/>
            <a:ext cx="1051560" cy="505206"/>
          </a:xfrm>
          <a:prstGeom prst="round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PE wire</a:t>
            </a:r>
            <a:br/>
            <a:r>
              <a:t>(SURE)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74519" y="4272534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8E8E8"/>
                </a:solidFill>
                <a:latin typeface="Calibri"/>
              </a:defRPr>
            </a:pPr>
            <a:r>
              <a:t>0.022 pJ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3017520" y="3977639"/>
            <a:ext cx="365760" cy="109728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474720" y="3749039"/>
            <a:ext cx="1051560" cy="505206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Domain</a:t>
            </a:r>
            <a:br/>
            <a:r>
              <a:t>Flow MAC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0" y="4272534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CC71"/>
                </a:solidFill>
                <a:latin typeface="Calibri"/>
              </a:defRPr>
            </a:pPr>
            <a:r>
              <a:t>0.675-</a:t>
            </a:r>
            <a:br/>
            <a:r>
              <a:t>2.160 pJ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4617719" y="3977639"/>
            <a:ext cx="365760" cy="109728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074920" y="3749039"/>
            <a:ext cx="1051560" cy="505206"/>
          </a:xfrm>
          <a:prstGeom prst="roundRect">
            <a:avLst/>
          </a:prstGeom>
          <a:solidFill>
            <a:srgbClr val="3AB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Local</a:t>
            </a:r>
            <a:br/>
            <a:r>
              <a:t>reg write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74920" y="4272534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8E8E8"/>
                </a:solidFill>
                <a:latin typeface="Calibri"/>
              </a:defRPr>
            </a:pPr>
            <a:r>
              <a:t>0.009 pJ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0" y="3749039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Overhead: ~0.053 pJ/op  |  Total: 0.958 pJ/op (mixed)  |  Eff: 94%</a:t>
            </a:r>
            <a:br/>
            <a:r>
              <a:t>Same zero-infrastructure as TPU, plus programmable schedule.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57200" y="4709160"/>
            <a:ext cx="10972800" cy="0"/>
          </a:xfrm>
          <a:prstGeom prst="line">
            <a:avLst/>
          </a:prstGeom>
          <a:ln w="2540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457200" y="4800600"/>
            <a:ext cx="10972800" cy="64008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482803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1">
                <a:solidFill>
                  <a:srgbClr val="00B4D8"/>
                </a:solidFill>
                <a:latin typeface="Calibri"/>
              </a:defRPr>
            </a:pPr>
            <a:r>
              <a:t>Operand delivery overhead per MAC at 7nm:</a:t>
            </a:r>
          </a:p>
          <a:p>
            <a:pPr algn="ctr">
              <a:spcAft>
                <a:spcPts val="47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GPU: 0.203 pJ (9 pipeline stages, all serving 256 KB SRAM)  |  TPU: ~0.36 pJ (buffer + wire)  |  KPU: ~0.053 pJ (wire + local reg)</a:t>
            </a:r>
          </a:p>
          <a:p>
            <a:pPr algn="ctr">
              <a:spcAft>
                <a:spcPts val="479"/>
              </a:spcAft>
              <a:defRPr sz="1200" b="1">
                <a:solidFill>
                  <a:srgbClr val="F3C623"/>
                </a:solidFill>
                <a:latin typeface="Calibri"/>
              </a:defRPr>
            </a:pPr>
            <a:r>
              <a:t>  GPU-to-KPU overhead ratio: 4x.  This is the structural advantage the GPU cannot replicate without removing SIMT.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Static Power: The Always-On Cost of 256 KB SRAM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4D8"/>
                </a:solidFill>
                <a:latin typeface="Calibri"/>
              </a:defRPr>
            </a:pPr>
            <a:r>
              <a:t>A separate argument from dynamic energy: leakage power is paid regardless of utilization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1">
                <a:solidFill>
                  <a:srgbClr val="BB3333"/>
                </a:solidFill>
                <a:latin typeface="Calibri"/>
              </a:defRPr>
            </a:pPr>
            <a:r>
              <a:t>What is Static Power?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Every transistor in the 256 KB SRAM leaks current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even when no computation is happening.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This is a consequence of FinFET physics at 7nm: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P_static = N_transistors * I_leak * V_dd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At 7nm FinFET, typical SRAM leakage: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~0.2 W per MB of SRAM (typical 7nm datacenter)</a:t>
            </a:r>
          </a:p>
          <a:p>
            <a:pPr algn="l">
              <a:spcAft>
                <a:spcPts val="439"/>
              </a:spcAft>
              <a:defRPr sz="1100" b="1">
                <a:solidFill>
                  <a:srgbClr val="F3C623"/>
                </a:solidFill>
                <a:latin typeface="Calibri"/>
              </a:defRPr>
            </a:pPr>
            <a:r>
              <a:t>  256 KB SRAM -&gt; ~50 mW per SM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100" b="1">
                <a:solidFill>
                  <a:srgbClr val="FF8C00"/>
                </a:solidFill>
                <a:latin typeface="Calibri"/>
              </a:defRPr>
            </a:pPr>
            <a:r>
              <a:t>This leakage is paid: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* When computing (overlaps with dynamic energy)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* When waiting for memory (100s of cycles)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* When partially utilized (batch=1 workloads)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* When idle (unless power-gated -- but GPU SMs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  rarely power-gate RF due to thread context)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868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6B900"/>
                </a:solidFill>
                <a:latin typeface="Calibri"/>
              </a:defRPr>
            </a:pPr>
            <a:r>
              <a:t>Scaling to Full GPU (H100-class, 7nm):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Per SM: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RF SRAM: 256 KB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Leakage: ~50 mW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At 1.5 GHz: 33.3 pJ/cycle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At 128 MACs/cycle: 0.26 pJ/MAC (CUDA)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3C623"/>
                </a:solidFill>
                <a:latin typeface="Calibri"/>
              </a:defRPr>
            </a:pPr>
            <a:r>
              <a:t>  At 256 MACs/cycle: 0.13 pJ/MAC (TC)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Full GPU (132 SMs):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Total RF: 132 x 256 KB = 33 MB SRAM</a:t>
            </a:r>
          </a:p>
          <a:p>
            <a:pPr algn="l">
              <a:spcAft>
                <a:spcPts val="399"/>
              </a:spcAft>
              <a:defRPr sz="1000" b="1">
                <a:solidFill>
                  <a:srgbClr val="F3C623"/>
                </a:solidFill>
                <a:latin typeface="Calibri"/>
              </a:defRPr>
            </a:pPr>
            <a:r>
              <a:t>  Total RF leakage: 132 x 50 mW = 6.6 W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E8E8E8"/>
                </a:solidFill>
                <a:latin typeface="Calibri"/>
              </a:defRPr>
            </a:pPr>
            <a:r>
              <a:t>  Share of 700W TDP: 0.9%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  + Shared L1/SMEM (192 KB x 132 = 25 MB): ~5 W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  + L2 Cache (50 MB): ~10 W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  Total SRAM leakage: ~22 W (3% of TDP)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3840480"/>
            <a:ext cx="10972800" cy="0"/>
          </a:xfrm>
          <a:prstGeom prst="line">
            <a:avLst/>
          </a:prstGeom>
          <a:ln w="190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3931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t>TPU/KPU Comparison: Distributed Latches Have ~10x Lower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39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PE-local latches (flip-flops) leak ~10x less than SRAM cells per bit, because: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* SRAM cell: 6 transistors, continuous feedback loop, both P/N paths leak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* Flip-flop latch: simpler structure, clock-gated when PE is idle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39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Furthermore, spatial architectures enable fine-grained power gating: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* GPU: cannot power-gate individual SM register banks (thread context would be lost)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  * TPU: can power-gate unused rows/columns of systolic array (but array is large)</a:t>
            </a:r>
          </a:p>
          <a:p>
            <a:pPr algn="l">
              <a:spcAft>
                <a:spcPts val="439"/>
              </a:spcAft>
              <a:defRPr sz="1100" b="0">
                <a:solidFill>
                  <a:srgbClr val="2ECC71"/>
                </a:solidFill>
                <a:latin typeface="Calibri"/>
              </a:defRPr>
            </a:pPr>
            <a:r>
              <a:t>  * KPU: can power-gate individual tiles (16x16 = fine granularity, 256 MACs per tile)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6035040"/>
            <a:ext cx="10058400" cy="64008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608076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Important: Static power is a secondary effect (~0.13-0.26 pJ/MAC) compared to</a:t>
            </a:r>
          </a:p>
          <a:p>
            <a:pPr algn="ctr">
              <a:spcAft>
                <a:spcPts val="439"/>
              </a:spcAft>
              <a:defRPr sz="1100" b="1">
                <a:solidFill>
                  <a:srgbClr val="FF8C00"/>
                </a:solidFill>
                <a:latin typeface="Calibri"/>
              </a:defRPr>
            </a:pPr>
            <a:r>
              <a:t>dynamic RF infrastructure cost (~0.20 pJ/MAC overhead). The dynamic cost is the primary argument.</a:t>
            </a:r>
          </a:p>
          <a:p>
            <a:pPr algn="ctr">
              <a:spcAft>
                <a:spcPts val="439"/>
              </a:spcAft>
              <a:defRPr sz="1100" b="0">
                <a:solidFill>
                  <a:srgbClr val="999999"/>
                </a:solidFill>
                <a:latin typeface="Calibri"/>
              </a:defRPr>
            </a:pPr>
            <a:r>
              <a:t>Static power matters most at low utilization (batch=1, idle SMs, memory-bound workloads).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Core Compute Energy Summary: All at 7nm, No External Memory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548640"/>
          <a:ext cx="11521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CPU Scalar</a:t>
                      </a:r>
                    </a:p>
                  </a:txBody>
                  <a:tcPr>
                    <a:solidFill>
                      <a:srgbClr val="3A8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CPU AVX-512</a:t>
                      </a:r>
                    </a:p>
                  </a:txBody>
                  <a:tcPr>
                    <a:solidFill>
                      <a:srgbClr val="3A8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GPU CUDA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GPU TC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TPU 128x128</a:t>
                      </a:r>
                    </a:p>
                  </a:txBody>
                  <a:tcPr>
                    <a:solidFill>
                      <a:srgbClr val="DD88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KPU 16x16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B4D8"/>
                          </a:solidFill>
                        </a:defRPr>
                      </a:pPr>
                      <a:r>
                        <a:t>RF / operand storage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~1 KB</a:t>
                      </a:r>
                    </a:p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private SRAM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~1 KB</a:t>
                      </a:r>
                    </a:p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private SRAM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256 KB</a:t>
                      </a:r>
                    </a:p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banked SRAM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256 KB</a:t>
                      </a:r>
                    </a:p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banked SRAM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128 KB</a:t>
                      </a:r>
                    </a:p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PE latches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4 KB/tile</a:t>
                      </a:r>
                    </a:p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PE latches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B4D8"/>
                          </a:solidFill>
                        </a:defRPr>
                      </a:pPr>
                      <a:r>
                        <a:t>Operand delivery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2R+1W</a:t>
                      </a:r>
                    </a:p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ports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2R+1W</a:t>
                      </a:r>
                    </a:p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vector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32-bank</a:t>
                      </a:r>
                    </a:p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+collector</a:t>
                      </a:r>
                    </a:p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+crossbar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32-bank</a:t>
                      </a:r>
                    </a:p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+collector</a:t>
                      </a:r>
                    </a:p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+crossbar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Spatial</a:t>
                      </a:r>
                    </a:p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wire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SURE</a:t>
                      </a:r>
                    </a:p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wire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B4D8"/>
                          </a:solidFill>
                        </a:defRPr>
                      </a:pPr>
                      <a:r>
                        <a:t>MAC energy (pJ)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1.800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1.800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1.530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1.530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1.440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0.905*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B4D8"/>
                          </a:solidFill>
                        </a:defRPr>
                      </a:pPr>
                      <a:r>
                        <a:t>Overhead (pJ/op)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8.136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0.509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0.418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0.284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0.639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0.053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8C00"/>
                          </a:solidFill>
                        </a:defRPr>
                      </a:pPr>
                      <a:r>
                        <a:t>  of which: RF infra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8C00"/>
                          </a:solidFill>
                        </a:defRPr>
                      </a:pPr>
                      <a:r>
                        <a:t>4.050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8C00"/>
                          </a:solidFill>
                        </a:defRPr>
                      </a:pPr>
                      <a:r>
                        <a:t>0.253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8C00"/>
                          </a:solidFill>
                        </a:defRPr>
                      </a:pPr>
                      <a:r>
                        <a:t>0.127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8C00"/>
                          </a:solidFill>
                        </a:defRPr>
                      </a:pPr>
                      <a:r>
                        <a:t>0.075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8C00"/>
                          </a:solidFill>
                        </a:defRPr>
                      </a:pPr>
                      <a:r>
                        <a:t>~0.01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8C00"/>
                          </a:solidFill>
                        </a:defRPr>
                      </a:pPr>
                      <a:r>
                        <a:t>~0.009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BB3333"/>
                          </a:solidFill>
                        </a:defRPr>
                      </a:pPr>
                      <a:r>
                        <a:t>Static RF (pJ/MAC)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BB3333"/>
                          </a:solidFill>
                        </a:defRPr>
                      </a:pPr>
                      <a:r>
                        <a:t>~0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BB3333"/>
                          </a:solidFill>
                        </a:defRPr>
                      </a:pPr>
                      <a:r>
                        <a:t>~0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BB3333"/>
                          </a:solidFill>
                        </a:defRPr>
                      </a:pPr>
                      <a:r>
                        <a:t>0.260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BB3333"/>
                          </a:solidFill>
                        </a:defRPr>
                      </a:pPr>
                      <a:r>
                        <a:t>0.130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BB3333"/>
                          </a:solidFill>
                        </a:defRPr>
                      </a:pPr>
                      <a:r>
                        <a:t>~0.03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BB3333"/>
                          </a:solidFill>
                        </a:defRPr>
                      </a:pPr>
                      <a:r>
                        <a:t>~0.01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3C623"/>
                          </a:solidFill>
                        </a:defRPr>
                      </a:pPr>
                      <a:r>
                        <a:t>TOTAL (pJ/op)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3C623"/>
                          </a:solidFill>
                        </a:defRPr>
                      </a:pPr>
                      <a:r>
                        <a:t>9.936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3C623"/>
                          </a:solidFill>
                        </a:defRPr>
                      </a:pPr>
                      <a:r>
                        <a:t>2.309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3C623"/>
                          </a:solidFill>
                        </a:defRPr>
                      </a:pPr>
                      <a:r>
                        <a:t>1.948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3C623"/>
                          </a:solidFill>
                        </a:defRPr>
                      </a:pPr>
                      <a:r>
                        <a:t>1.814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3C623"/>
                          </a:solidFill>
                        </a:defRPr>
                      </a:pPr>
                      <a:r>
                        <a:t>2.085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3C623"/>
                          </a:solidFill>
                        </a:defRPr>
                      </a:pPr>
                      <a:r>
                        <a:t>0.958</a:t>
                      </a:r>
                    </a:p>
                  </a:txBody>
                  <a:tcPr>
                    <a:solidFill>
                      <a:srgbClr val="2A2A4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CC71"/>
                          </a:solidFill>
                        </a:defRPr>
                      </a:pPr>
                      <a:r>
                        <a:t>Compute Efficiency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CC71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CC71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CC71"/>
                          </a:solidFill>
                        </a:defRPr>
                      </a:pPr>
                      <a:r>
                        <a:t>79%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CC71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CC71"/>
                          </a:solidFill>
                        </a:defRPr>
                      </a:pPr>
                      <a:r>
                        <a:t>69%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ECC71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22223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Energy per Op:  Green = MAC  |  Orange = RF Infrastructure  |  Gray = Other Overhead  |  Red = Static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3A86C8"/>
                </a:solidFill>
                <a:latin typeface="Calibri"/>
              </a:defRPr>
            </a:pPr>
            <a:r>
              <a:t>CPU Scalar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206240"/>
            <a:ext cx="1316736" cy="274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1.80</a:t>
            </a:r>
          </a:p>
        </p:txBody>
      </p:sp>
      <p:sp>
        <p:nvSpPr>
          <p:cNvPr id="7" name="Rectangle 6"/>
          <p:cNvSpPr/>
          <p:nvPr/>
        </p:nvSpPr>
        <p:spPr>
          <a:xfrm>
            <a:off x="4059935" y="4206240"/>
            <a:ext cx="2962656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4.05</a:t>
            </a:r>
          </a:p>
        </p:txBody>
      </p:sp>
      <p:sp>
        <p:nvSpPr>
          <p:cNvPr id="8" name="Rectangle 7"/>
          <p:cNvSpPr/>
          <p:nvPr/>
        </p:nvSpPr>
        <p:spPr>
          <a:xfrm>
            <a:off x="7022592" y="4206240"/>
            <a:ext cx="2988990" cy="274320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999999"/>
                </a:solidFill>
              </a:defRPr>
            </a:pPr>
            <a:r>
              <a:t>4.09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7302" y="4206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E8E8"/>
                </a:solidFill>
                <a:latin typeface="Calibri"/>
              </a:defRPr>
            </a:pPr>
            <a:r>
              <a:t>9.94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3542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3A86C8"/>
                </a:solidFill>
                <a:latin typeface="Calibri"/>
              </a:defRPr>
            </a:pPr>
            <a:r>
              <a:t>CPU AVX-512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4535424"/>
            <a:ext cx="1316736" cy="274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1.80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59935" y="4535424"/>
            <a:ext cx="185074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45010" y="4535424"/>
            <a:ext cx="187269" cy="274320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7999" y="45354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E8E8"/>
                </a:solidFill>
                <a:latin typeface="Calibri"/>
              </a:defRPr>
            </a:pPr>
            <a:r>
              <a:t>2.31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76B900"/>
                </a:solidFill>
                <a:latin typeface="Calibri"/>
              </a:defRPr>
            </a:pPr>
            <a:r>
              <a:t>GPU CUDA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4864607"/>
            <a:ext cx="1119225" cy="274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1.53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62425" y="4864607"/>
            <a:ext cx="92903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55328" y="4864607"/>
            <a:ext cx="212872" cy="274320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8200" y="4864607"/>
            <a:ext cx="190195" cy="274320"/>
          </a:xfrm>
          <a:prstGeom prst="rect">
            <a:avLst/>
          </a:prstGeom>
          <a:solidFill>
            <a:srgbClr val="BB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0.26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4116" y="48646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E8E8"/>
                </a:solidFill>
                <a:latin typeface="Calibri"/>
              </a:defRPr>
            </a:pPr>
            <a:r>
              <a:t>2.21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937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76B900"/>
                </a:solidFill>
                <a:latin typeface="Calibri"/>
              </a:defRPr>
            </a:pPr>
            <a:r>
              <a:t>GPU TC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5193792"/>
            <a:ext cx="1119225" cy="274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1.53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17289" y="5193792"/>
            <a:ext cx="152887" cy="274320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70177" y="5193792"/>
            <a:ext cx="95097" cy="274320"/>
          </a:xfrm>
          <a:prstGeom prst="rect">
            <a:avLst/>
          </a:prstGeom>
          <a:solidFill>
            <a:srgbClr val="BB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10994" y="51937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E8E8"/>
                </a:solidFill>
                <a:latin typeface="Calibri"/>
              </a:defRPr>
            </a:pPr>
            <a:r>
              <a:t>1.94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22975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D8833"/>
                </a:solidFill>
                <a:latin typeface="Calibri"/>
              </a:defRPr>
            </a:pPr>
            <a:r>
              <a:t>TPU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5522975"/>
            <a:ext cx="1053388" cy="274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1.44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03904" y="5522975"/>
            <a:ext cx="460126" cy="274320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999999"/>
                </a:solidFill>
              </a:defRPr>
            </a:pPr>
            <a:r>
              <a:t>0.63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1695" y="552297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E8E8"/>
                </a:solidFill>
                <a:latin typeface="Calibri"/>
              </a:defRPr>
            </a:pPr>
            <a:r>
              <a:t>2.11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5215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96D6"/>
                </a:solidFill>
                <a:latin typeface="Calibri"/>
              </a:defRPr>
            </a:pPr>
            <a:r>
              <a:t>KPU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5852159"/>
            <a:ext cx="662025" cy="274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0.91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7031" y="585215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E8E8"/>
                </a:solidFill>
                <a:latin typeface="Calibri"/>
              </a:defRPr>
            </a:pPr>
            <a:r>
              <a:t>0.97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318504"/>
            <a:ext cx="10972800" cy="77724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364224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100" b="1">
                <a:solidFill>
                  <a:srgbClr val="00B4D8"/>
                </a:solidFill>
                <a:latin typeface="Calibri"/>
              </a:defRPr>
            </a:pPr>
            <a:r>
              <a:t>Core Compute Takeaway:</a:t>
            </a:r>
          </a:p>
          <a:p>
            <a:pPr algn="ctr">
              <a:spcAft>
                <a:spcPts val="439"/>
              </a:spcAft>
              <a:defRPr sz="1100" b="0">
                <a:solidFill>
                  <a:srgbClr val="E8E8E8"/>
                </a:solidFill>
                <a:latin typeface="Calibri"/>
              </a:defRPr>
            </a:pPr>
            <a:r>
              <a:t>The 256 KB banked SRAM register file and its delivery infrastructure (operand collector, crossbar, bank arbitration) is the GPU's structural energy cost. It adds ~0.13-0.26 pJ/MAC in dynamic overhead plus ~0.13-0.26 pJ/MAC in static leakage.</a:t>
            </a:r>
          </a:p>
          <a:p>
            <a:pPr algn="ctr">
              <a:spcAft>
                <a:spcPts val="439"/>
              </a:spcAft>
              <a:defRPr sz="1100" b="1">
                <a:solidFill>
                  <a:srgbClr val="F3C623"/>
                </a:solidFill>
                <a:latin typeface="Calibri"/>
              </a:defRPr>
            </a:pPr>
            <a:r>
              <a:t>TPU/KPU eliminate this entirely with distributed PE-local latches. This is a 1.9x core compute advantage (GPU TC: 1.81 vs KPU: 0.96 pJ/op) that the GPU cannot close without abandoning SIMT.</a:t>
            </a:r>
          </a:p>
          <a:p>
            <a:pPr algn="ctr">
              <a:spcAft>
                <a:spcPts val="439"/>
              </a:spcAft>
              <a:defRPr sz="1100" b="0">
                <a:solidFill>
                  <a:srgbClr val="999999"/>
                </a:solidFill>
                <a:latin typeface="Calibri"/>
              </a:defRPr>
            </a:pPr>
            <a:r>
              <a:t>* KPU mixed precision: 70% INT8 + 20% BF16 + 10% FP32. Single-precision BF16 KPU: ~1.13 pJ/op.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